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561" r:id="rId2"/>
    <p:sldId id="2562" r:id="rId3"/>
    <p:sldId id="2563" r:id="rId4"/>
    <p:sldId id="2564" r:id="rId5"/>
    <p:sldId id="2579" r:id="rId6"/>
    <p:sldId id="2581" r:id="rId7"/>
    <p:sldId id="2601" r:id="rId8"/>
    <p:sldId id="2575" r:id="rId9"/>
    <p:sldId id="2577" r:id="rId10"/>
    <p:sldId id="2602" r:id="rId11"/>
    <p:sldId id="2592" r:id="rId12"/>
    <p:sldId id="2599" r:id="rId13"/>
    <p:sldId id="2597" r:id="rId14"/>
    <p:sldId id="2600" r:id="rId15"/>
    <p:sldId id="2578" r:id="rId16"/>
    <p:sldId id="2587" r:id="rId17"/>
    <p:sldId id="2588" r:id="rId18"/>
    <p:sldId id="259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dicting the Price of Cryptocurrencies: Techniques and Challenges" id="{AF1984ED-EDE7-FF42-9483-DD96970DD731}">
          <p14:sldIdLst>
            <p14:sldId id="2561"/>
            <p14:sldId id="2562"/>
          </p14:sldIdLst>
        </p14:section>
        <p14:section name="Introduction to Cryptocurrencies" id="{717F6119-33CB-5849-A0C3-B3B64F0A6A7C}">
          <p14:sldIdLst>
            <p14:sldId id="2563"/>
            <p14:sldId id="2564"/>
          </p14:sldIdLst>
        </p14:section>
        <p14:section name="Fundamental Analysis" id="{55B6DE0A-0E49-8048-B825-DB506537E6D5}">
          <p14:sldIdLst/>
        </p14:section>
        <p14:section name="Technical Analysis" id="{465C07A7-C969-1149-96C2-546E79BE94E5}">
          <p14:sldIdLst/>
        </p14:section>
        <p14:section name="Machine Learning and Predictive Models" id="{FEB1357F-BF29-1F4F-8C95-FDAB1F172939}">
          <p14:sldIdLst>
            <p14:sldId id="2579"/>
            <p14:sldId id="2581"/>
            <p14:sldId id="2601"/>
            <p14:sldId id="2575"/>
            <p14:sldId id="2577"/>
            <p14:sldId id="2602"/>
            <p14:sldId id="2592"/>
            <p14:sldId id="2599"/>
            <p14:sldId id="2597"/>
            <p14:sldId id="2600"/>
            <p14:sldId id="2578"/>
          </p14:sldIdLst>
        </p14:section>
        <p14:section name="Data Cleansing and Feature Engineering" id="{68B879A4-76A6-554D-B4C4-F2643849AED3}">
          <p14:sldIdLst/>
        </p14:section>
        <p14:section name="Sentiment Analysis and Social Media Impact" id="{D5834ECE-72D4-984F-B72E-9AD8AF2362CD}">
          <p14:sldIdLst/>
        </p14:section>
        <p14:section name="Risks and Ethical Considerations" id="{59B38EF9-B98E-C24B-B361-7FCA8368A1DB}">
          <p14:sldIdLst>
            <p14:sldId id="2587"/>
            <p14:sldId id="2588"/>
          </p14:sldIdLst>
        </p14:section>
        <p14:section name="Conclusion" id="{74526E1D-8D61-1A44-897C-65A9E82A5ACC}">
          <p14:sldIdLst>
            <p14:sldId id="25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69" autoAdjust="0"/>
    <p:restoredTop sz="94725"/>
  </p:normalViewPr>
  <p:slideViewPr>
    <p:cSldViewPr snapToGrid="0">
      <p:cViewPr varScale="1">
        <p:scale>
          <a:sx n="99" d="100"/>
          <a:sy n="99" d="100"/>
        </p:scale>
        <p:origin x="84" y="21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864263-CCB1-F14F-B004-1278888372A0}" type="datetimeFigureOut">
              <a:rPr lang="en-US" smtClean="0"/>
              <a:t>7/24/2025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E1793-BA6B-B142-A246-46E596705D27}" type="slidenum">
              <a:rPr lang="en-US" smtClean="0"/>
              <a:t>‹#›</a:t>
            </a:fld>
            <a:endParaRPr lang="en-US"/>
          </a:p>
        </p:txBody>
      </p:sp>
    </p:spTree>
    <p:extLst>
      <p:ext uri="{BB962C8B-B14F-4D97-AF65-F5344CB8AC3E}">
        <p14:creationId xmlns:p14="http://schemas.microsoft.com/office/powerpoint/2010/main" val="3019319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will explore the intricate world of cryptocurrency price prediction. We will delve into various techniques, including fundamental and technical analysis, machine learning, and sentiment analysis, while also addressing the challenges and ethical considerations in this rapidly evolving market.
</a:t>
            </a:r>
          </a:p>
        </p:txBody>
      </p:sp>
      <p:sp>
        <p:nvSpPr>
          <p:cNvPr id="4" name="Slide Number Placeholder 3"/>
          <p:cNvSpPr>
            <a:spLocks noGrp="1"/>
          </p:cNvSpPr>
          <p:nvPr>
            <p:ph type="sldNum" sz="quarter" idx="5"/>
          </p:nvPr>
        </p:nvSpPr>
        <p:spPr/>
        <p:txBody>
          <a:bodyPr/>
          <a:lstStyle/>
          <a:p>
            <a:fld id="{2A5B0427-2955-0244-A172-B54A6B70A2D0}" type="slidenum">
              <a:rPr lang="en-US" smtClean="0"/>
              <a:t>1</a:t>
            </a:fld>
            <a:endParaRPr lang="en-US"/>
          </a:p>
        </p:txBody>
      </p:sp>
    </p:spTree>
    <p:extLst>
      <p:ext uri="{BB962C8B-B14F-4D97-AF65-F5344CB8AC3E}">
        <p14:creationId xmlns:p14="http://schemas.microsoft.com/office/powerpoint/2010/main" val="1016287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begin with an introduction to cryptocurrencies, covering their definition, history, and key price influencers. Next, we'll discuss fundamental and technical analysis methods, followed by machine learning techniques. Additionally, we'll explore data cleansing, sentiment analysis, and finally, the risks associated with cryptocurrency trading.</a:t>
            </a:r>
          </a:p>
        </p:txBody>
      </p:sp>
      <p:sp>
        <p:nvSpPr>
          <p:cNvPr id="4" name="Slide Number Placeholder 3"/>
          <p:cNvSpPr>
            <a:spLocks noGrp="1"/>
          </p:cNvSpPr>
          <p:nvPr>
            <p:ph type="sldNum" sz="quarter" idx="5"/>
          </p:nvPr>
        </p:nvSpPr>
        <p:spPr/>
        <p:txBody>
          <a:bodyPr/>
          <a:lstStyle/>
          <a:p>
            <a:fld id="{2A5B0427-2955-0244-A172-B54A6B70A2D0}" type="slidenum">
              <a:rPr lang="en-US" smtClean="0"/>
              <a:t>2</a:t>
            </a:fld>
            <a:endParaRPr lang="en-US"/>
          </a:p>
        </p:txBody>
      </p:sp>
    </p:spTree>
    <p:extLst>
      <p:ext uri="{BB962C8B-B14F-4D97-AF65-F5344CB8AC3E}">
        <p14:creationId xmlns:p14="http://schemas.microsoft.com/office/powerpoint/2010/main" val="168964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fundamentals of cryptocurrencies is essential for price prediction. This section will provide an overview of what cryptocurrencies are and their place in the financial world.</a:t>
            </a:r>
          </a:p>
        </p:txBody>
      </p:sp>
      <p:sp>
        <p:nvSpPr>
          <p:cNvPr id="4" name="Slide Number Placeholder 3"/>
          <p:cNvSpPr>
            <a:spLocks noGrp="1"/>
          </p:cNvSpPr>
          <p:nvPr>
            <p:ph type="sldNum" sz="quarter" idx="5"/>
          </p:nvPr>
        </p:nvSpPr>
        <p:spPr/>
        <p:txBody>
          <a:bodyPr/>
          <a:lstStyle/>
          <a:p>
            <a:fld id="{2A5B0427-2955-0244-A172-B54A6B70A2D0}" type="slidenum">
              <a:rPr lang="en-US" smtClean="0"/>
              <a:t>3</a:t>
            </a:fld>
            <a:endParaRPr lang="en-US"/>
          </a:p>
        </p:txBody>
      </p:sp>
    </p:spTree>
    <p:extLst>
      <p:ext uri="{BB962C8B-B14F-4D97-AF65-F5344CB8AC3E}">
        <p14:creationId xmlns:p14="http://schemas.microsoft.com/office/powerpoint/2010/main" val="1539879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Cryptocurrencies are digital or virtual currencies that use cryptography for security. They operate on decentralized networks based on blockchain technology, allowing for peer-to-peer transactions without intermediaries.</a:t>
            </a:r>
          </a:p>
        </p:txBody>
      </p:sp>
      <p:sp>
        <p:nvSpPr>
          <p:cNvPr id="4" name="Slide Number Placeholder 3"/>
          <p:cNvSpPr>
            <a:spLocks noGrp="1"/>
          </p:cNvSpPr>
          <p:nvPr>
            <p:ph type="sldNum" sz="quarter" idx="5"/>
          </p:nvPr>
        </p:nvSpPr>
        <p:spPr/>
        <p:txBody>
          <a:bodyPr/>
          <a:lstStyle/>
          <a:p>
            <a:fld id="{2A5B0427-2955-0244-A172-B54A6B70A2D0}" type="slidenum">
              <a:rPr lang="en-US" smtClean="0"/>
              <a:t>4</a:t>
            </a:fld>
            <a:endParaRPr lang="en-US"/>
          </a:p>
        </p:txBody>
      </p:sp>
    </p:spTree>
    <p:extLst>
      <p:ext uri="{BB962C8B-B14F-4D97-AF65-F5344CB8AC3E}">
        <p14:creationId xmlns:p14="http://schemas.microsoft.com/office/powerpoint/2010/main" val="3342556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Ensuring high-quality data is vital for accurate predictions. This section will discuss the importance of data cleansing and feature engineering in building effective predictive models.</a:t>
            </a:r>
          </a:p>
        </p:txBody>
      </p:sp>
      <p:sp>
        <p:nvSpPr>
          <p:cNvPr id="4" name="Slide Number Placeholder 3"/>
          <p:cNvSpPr>
            <a:spLocks noGrp="1"/>
          </p:cNvSpPr>
          <p:nvPr>
            <p:ph type="sldNum" sz="quarter" idx="5"/>
          </p:nvPr>
        </p:nvSpPr>
        <p:spPr/>
        <p:txBody>
          <a:bodyPr/>
          <a:lstStyle/>
          <a:p>
            <a:fld id="{2A5B0427-2955-0244-A172-B54A6B70A2D0}" type="slidenum">
              <a:rPr lang="en-US" smtClean="0"/>
              <a:t>5</a:t>
            </a:fld>
            <a:endParaRPr lang="en-US"/>
          </a:p>
        </p:txBody>
      </p:sp>
    </p:spTree>
    <p:extLst>
      <p:ext uri="{BB962C8B-B14F-4D97-AF65-F5344CB8AC3E}">
        <p14:creationId xmlns:p14="http://schemas.microsoft.com/office/powerpoint/2010/main" val="3518227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cleansing involves removing inaccuracies and inconsistencies in data. Techniques such as normalization, deduplication, and outlier detection are essential for preparing data for analysis.</a:t>
            </a:r>
          </a:p>
        </p:txBody>
      </p:sp>
      <p:sp>
        <p:nvSpPr>
          <p:cNvPr id="4" name="Slide Number Placeholder 3"/>
          <p:cNvSpPr>
            <a:spLocks noGrp="1"/>
          </p:cNvSpPr>
          <p:nvPr>
            <p:ph type="sldNum" sz="quarter" idx="5"/>
          </p:nvPr>
        </p:nvSpPr>
        <p:spPr/>
        <p:txBody>
          <a:bodyPr/>
          <a:lstStyle/>
          <a:p>
            <a:fld id="{2A5B0427-2955-0244-A172-B54A6B70A2D0}" type="slidenum">
              <a:rPr lang="en-US" smtClean="0"/>
              <a:t>6</a:t>
            </a:fld>
            <a:endParaRPr lang="en-US"/>
          </a:p>
        </p:txBody>
      </p:sp>
    </p:spTree>
    <p:extLst>
      <p:ext uri="{BB962C8B-B14F-4D97-AF65-F5344CB8AC3E}">
        <p14:creationId xmlns:p14="http://schemas.microsoft.com/office/powerpoint/2010/main" val="1108982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FBF4A-5FFE-0A5E-9D09-EF21D070B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758A4-14CA-C5E5-9F03-4E35D9CE8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67F01-6218-EFDB-AC1E-0FD706DBCD4F}"/>
              </a:ext>
            </a:extLst>
          </p:cNvPr>
          <p:cNvSpPr>
            <a:spLocks noGrp="1"/>
          </p:cNvSpPr>
          <p:nvPr>
            <p:ph type="body" idx="1"/>
          </p:nvPr>
        </p:nvSpPr>
        <p:spPr/>
        <p:txBody>
          <a:bodyPr/>
          <a:lstStyle/>
          <a:p>
            <a:r>
              <a:rPr lang="en-US"/>
              <a:t>Feature engineering involves creating new input features from existing data to improve model performance. For time series data, techniques such as lag features and rolling statistics can be beneficial.</a:t>
            </a:r>
          </a:p>
        </p:txBody>
      </p:sp>
      <p:sp>
        <p:nvSpPr>
          <p:cNvPr id="4" name="Slide Number Placeholder 3">
            <a:extLst>
              <a:ext uri="{FF2B5EF4-FFF2-40B4-BE49-F238E27FC236}">
                <a16:creationId xmlns:a16="http://schemas.microsoft.com/office/drawing/2014/main" id="{BF5F4499-57EE-772A-5F84-9E93E6299C82}"/>
              </a:ext>
            </a:extLst>
          </p:cNvPr>
          <p:cNvSpPr>
            <a:spLocks noGrp="1"/>
          </p:cNvSpPr>
          <p:nvPr>
            <p:ph type="sldNum" sz="quarter" idx="5"/>
          </p:nvPr>
        </p:nvSpPr>
        <p:spPr/>
        <p:txBody>
          <a:bodyPr/>
          <a:lstStyle/>
          <a:p>
            <a:fld id="{2A5B0427-2955-0244-A172-B54A6B70A2D0}" type="slidenum">
              <a:rPr lang="en-US" smtClean="0"/>
              <a:t>7</a:t>
            </a:fld>
            <a:endParaRPr lang="en-US"/>
          </a:p>
        </p:txBody>
      </p:sp>
    </p:spTree>
    <p:extLst>
      <p:ext uri="{BB962C8B-B14F-4D97-AF65-F5344CB8AC3E}">
        <p14:creationId xmlns:p14="http://schemas.microsoft.com/office/powerpoint/2010/main" val="740152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Machine learning is becoming increasingly popular for predicting cryptocurrency prices. This section will introduce various models and their applications in finance.</a:t>
            </a:r>
          </a:p>
        </p:txBody>
      </p:sp>
      <p:sp>
        <p:nvSpPr>
          <p:cNvPr id="4" name="Slide Number Placeholder 3"/>
          <p:cNvSpPr>
            <a:spLocks noGrp="1"/>
          </p:cNvSpPr>
          <p:nvPr>
            <p:ph type="sldNum" sz="quarter" idx="5"/>
          </p:nvPr>
        </p:nvSpPr>
        <p:spPr/>
        <p:txBody>
          <a:bodyPr/>
          <a:lstStyle/>
          <a:p>
            <a:fld id="{2A5B0427-2955-0244-A172-B54A6B70A2D0}" type="slidenum">
              <a:rPr lang="en-US" smtClean="0"/>
              <a:t>8</a:t>
            </a:fld>
            <a:endParaRPr lang="en-US"/>
          </a:p>
        </p:txBody>
      </p:sp>
    </p:spTree>
    <p:extLst>
      <p:ext uri="{BB962C8B-B14F-4D97-AF65-F5344CB8AC3E}">
        <p14:creationId xmlns:p14="http://schemas.microsoft.com/office/powerpoint/2010/main" val="2598436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Several machine learning models, such as linear regression, Long Short-Term Memory (LSTM) networks, and Random Forests, have shown promise in predicting cryptocurrency prices. We will explore how each model works.</a:t>
            </a:r>
          </a:p>
        </p:txBody>
      </p:sp>
      <p:sp>
        <p:nvSpPr>
          <p:cNvPr id="4" name="Slide Number Placeholder 3"/>
          <p:cNvSpPr>
            <a:spLocks noGrp="1"/>
          </p:cNvSpPr>
          <p:nvPr>
            <p:ph type="sldNum" sz="quarter" idx="5"/>
          </p:nvPr>
        </p:nvSpPr>
        <p:spPr/>
        <p:txBody>
          <a:bodyPr/>
          <a:lstStyle/>
          <a:p>
            <a:fld id="{2A5B0427-2955-0244-A172-B54A6B70A2D0}" type="slidenum">
              <a:rPr lang="en-US" smtClean="0"/>
              <a:t>9</a:t>
            </a:fld>
            <a:endParaRPr lang="en-US"/>
          </a:p>
        </p:txBody>
      </p:sp>
    </p:spTree>
    <p:extLst>
      <p:ext uri="{BB962C8B-B14F-4D97-AF65-F5344CB8AC3E}">
        <p14:creationId xmlns:p14="http://schemas.microsoft.com/office/powerpoint/2010/main" val="1558636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FBD9-CF07-5FBF-1C76-2630044A1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84D19-763E-A34D-92C0-FB6DC3CB0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CB9914-FE16-A9D4-961D-07F20DC7CDF8}"/>
              </a:ext>
            </a:extLst>
          </p:cNvPr>
          <p:cNvSpPr>
            <a:spLocks noGrp="1"/>
          </p:cNvSpPr>
          <p:nvPr>
            <p:ph type="body" idx="1"/>
          </p:nvPr>
        </p:nvSpPr>
        <p:spPr/>
        <p:txBody>
          <a:bodyPr/>
          <a:lstStyle/>
          <a:p>
            <a:r>
              <a:rPr lang="en-US"/>
              <a:t>While machine learning models can enhance price predictions, they also face challenges such as data quality, overfitting, and the ever-evolving nature of the cryptocurrency market.</a:t>
            </a:r>
          </a:p>
        </p:txBody>
      </p:sp>
      <p:sp>
        <p:nvSpPr>
          <p:cNvPr id="4" name="Slide Number Placeholder 3">
            <a:extLst>
              <a:ext uri="{FF2B5EF4-FFF2-40B4-BE49-F238E27FC236}">
                <a16:creationId xmlns:a16="http://schemas.microsoft.com/office/drawing/2014/main" id="{9E006844-4AF1-698F-1C1F-F24CFA69F7EA}"/>
              </a:ext>
            </a:extLst>
          </p:cNvPr>
          <p:cNvSpPr>
            <a:spLocks noGrp="1"/>
          </p:cNvSpPr>
          <p:nvPr>
            <p:ph type="sldNum" sz="quarter" idx="5"/>
          </p:nvPr>
        </p:nvSpPr>
        <p:spPr/>
        <p:txBody>
          <a:bodyPr/>
          <a:lstStyle/>
          <a:p>
            <a:fld id="{2A5B0427-2955-0244-A172-B54A6B70A2D0}" type="slidenum">
              <a:rPr lang="en-US" smtClean="0"/>
              <a:t>10</a:t>
            </a:fld>
            <a:endParaRPr lang="en-US"/>
          </a:p>
        </p:txBody>
      </p:sp>
    </p:spTree>
    <p:extLst>
      <p:ext uri="{BB962C8B-B14F-4D97-AF65-F5344CB8AC3E}">
        <p14:creationId xmlns:p14="http://schemas.microsoft.com/office/powerpoint/2010/main" val="2108273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D4EE5-6499-4EB6-20FB-ED7EEFC29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D0437-E1F1-698F-7212-E1FF5AECB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A5E80-1967-784E-0E3B-BFB0DA4C8AA9}"/>
              </a:ext>
            </a:extLst>
          </p:cNvPr>
          <p:cNvSpPr>
            <a:spLocks noGrp="1"/>
          </p:cNvSpPr>
          <p:nvPr>
            <p:ph type="body" idx="1"/>
          </p:nvPr>
        </p:nvSpPr>
        <p:spPr/>
        <p:txBody>
          <a:bodyPr/>
          <a:lstStyle/>
          <a:p>
            <a:r>
              <a:rPr lang="en-US"/>
              <a:t>While machine learning models can enhance price predictions, they also face challenges such as data quality, overfitting, and the ever-evolving nature of the cryptocurrency market.</a:t>
            </a:r>
          </a:p>
        </p:txBody>
      </p:sp>
      <p:sp>
        <p:nvSpPr>
          <p:cNvPr id="4" name="Slide Number Placeholder 3">
            <a:extLst>
              <a:ext uri="{FF2B5EF4-FFF2-40B4-BE49-F238E27FC236}">
                <a16:creationId xmlns:a16="http://schemas.microsoft.com/office/drawing/2014/main" id="{51C10FB8-F91F-CB9A-DF7E-75F684EBAC26}"/>
              </a:ext>
            </a:extLst>
          </p:cNvPr>
          <p:cNvSpPr>
            <a:spLocks noGrp="1"/>
          </p:cNvSpPr>
          <p:nvPr>
            <p:ph type="sldNum" sz="quarter" idx="5"/>
          </p:nvPr>
        </p:nvSpPr>
        <p:spPr/>
        <p:txBody>
          <a:bodyPr/>
          <a:lstStyle/>
          <a:p>
            <a:fld id="{2A5B0427-2955-0244-A172-B54A6B70A2D0}" type="slidenum">
              <a:rPr lang="en-US" smtClean="0"/>
              <a:t>11</a:t>
            </a:fld>
            <a:endParaRPr lang="en-US"/>
          </a:p>
        </p:txBody>
      </p:sp>
    </p:spTree>
    <p:extLst>
      <p:ext uri="{BB962C8B-B14F-4D97-AF65-F5344CB8AC3E}">
        <p14:creationId xmlns:p14="http://schemas.microsoft.com/office/powerpoint/2010/main" val="3264242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7B653-E049-585D-35B3-B7C185E6C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3CF0B-67BA-78E2-DED4-2FC6A7B50D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14FAE-8C17-1543-E121-A5D460F4CCCB}"/>
              </a:ext>
            </a:extLst>
          </p:cNvPr>
          <p:cNvSpPr>
            <a:spLocks noGrp="1"/>
          </p:cNvSpPr>
          <p:nvPr>
            <p:ph type="body" idx="1"/>
          </p:nvPr>
        </p:nvSpPr>
        <p:spPr/>
        <p:txBody>
          <a:bodyPr/>
          <a:lstStyle/>
          <a:p>
            <a:r>
              <a:rPr lang="en-US"/>
              <a:t>While machine learning models can enhance price predictions, they also face challenges such as data quality, overfitting, and the ever-evolving nature of the cryptocurrency market.</a:t>
            </a:r>
          </a:p>
        </p:txBody>
      </p:sp>
      <p:sp>
        <p:nvSpPr>
          <p:cNvPr id="4" name="Slide Number Placeholder 3">
            <a:extLst>
              <a:ext uri="{FF2B5EF4-FFF2-40B4-BE49-F238E27FC236}">
                <a16:creationId xmlns:a16="http://schemas.microsoft.com/office/drawing/2014/main" id="{98178B1F-C2A7-F6DF-CD72-10C178D0D977}"/>
              </a:ext>
            </a:extLst>
          </p:cNvPr>
          <p:cNvSpPr>
            <a:spLocks noGrp="1"/>
          </p:cNvSpPr>
          <p:nvPr>
            <p:ph type="sldNum" sz="quarter" idx="5"/>
          </p:nvPr>
        </p:nvSpPr>
        <p:spPr/>
        <p:txBody>
          <a:bodyPr/>
          <a:lstStyle/>
          <a:p>
            <a:fld id="{2A5B0427-2955-0244-A172-B54A6B70A2D0}" type="slidenum">
              <a:rPr lang="en-US" smtClean="0"/>
              <a:t>12</a:t>
            </a:fld>
            <a:endParaRPr lang="en-US"/>
          </a:p>
        </p:txBody>
      </p:sp>
    </p:spTree>
    <p:extLst>
      <p:ext uri="{BB962C8B-B14F-4D97-AF65-F5344CB8AC3E}">
        <p14:creationId xmlns:p14="http://schemas.microsoft.com/office/powerpoint/2010/main" val="3340043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6D63A-DA14-ABCD-E4AF-D7252CC8A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15F51E-6FBA-CA47-7477-01A0D5C103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AC3F9-22A7-77CF-C289-6BC6BE90F11E}"/>
              </a:ext>
            </a:extLst>
          </p:cNvPr>
          <p:cNvSpPr>
            <a:spLocks noGrp="1"/>
          </p:cNvSpPr>
          <p:nvPr>
            <p:ph type="body" idx="1"/>
          </p:nvPr>
        </p:nvSpPr>
        <p:spPr/>
        <p:txBody>
          <a:bodyPr/>
          <a:lstStyle/>
          <a:p>
            <a:r>
              <a:rPr lang="en-US"/>
              <a:t>While machine learning models can enhance price predictions, they also face challenges such as data quality, overfitting, and the ever-evolving nature of the cryptocurrency market.</a:t>
            </a:r>
          </a:p>
        </p:txBody>
      </p:sp>
      <p:sp>
        <p:nvSpPr>
          <p:cNvPr id="4" name="Slide Number Placeholder 3">
            <a:extLst>
              <a:ext uri="{FF2B5EF4-FFF2-40B4-BE49-F238E27FC236}">
                <a16:creationId xmlns:a16="http://schemas.microsoft.com/office/drawing/2014/main" id="{F375E2D4-87F9-87A6-7808-900502E6FDE1}"/>
              </a:ext>
            </a:extLst>
          </p:cNvPr>
          <p:cNvSpPr>
            <a:spLocks noGrp="1"/>
          </p:cNvSpPr>
          <p:nvPr>
            <p:ph type="sldNum" sz="quarter" idx="5"/>
          </p:nvPr>
        </p:nvSpPr>
        <p:spPr/>
        <p:txBody>
          <a:bodyPr/>
          <a:lstStyle/>
          <a:p>
            <a:fld id="{2A5B0427-2955-0244-A172-B54A6B70A2D0}" type="slidenum">
              <a:rPr lang="en-US" smtClean="0"/>
              <a:t>13</a:t>
            </a:fld>
            <a:endParaRPr lang="en-US"/>
          </a:p>
        </p:txBody>
      </p:sp>
    </p:spTree>
    <p:extLst>
      <p:ext uri="{BB962C8B-B14F-4D97-AF65-F5344CB8AC3E}">
        <p14:creationId xmlns:p14="http://schemas.microsoft.com/office/powerpoint/2010/main" val="1573497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A114F-A4D5-149B-3D50-196B0A069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667A2-63E5-58F8-E419-FEB1A7563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93516B-EA9D-3490-B69B-5869AFD04B37}"/>
              </a:ext>
            </a:extLst>
          </p:cNvPr>
          <p:cNvSpPr>
            <a:spLocks noGrp="1"/>
          </p:cNvSpPr>
          <p:nvPr>
            <p:ph type="body" idx="1"/>
          </p:nvPr>
        </p:nvSpPr>
        <p:spPr/>
        <p:txBody>
          <a:bodyPr/>
          <a:lstStyle/>
          <a:p>
            <a:r>
              <a:rPr lang="en-US"/>
              <a:t>While machine learning models can enhance price predictions, they also face challenges such as data quality, overfitting, and the ever-evolving nature of the cryptocurrency market.</a:t>
            </a:r>
          </a:p>
        </p:txBody>
      </p:sp>
      <p:sp>
        <p:nvSpPr>
          <p:cNvPr id="4" name="Slide Number Placeholder 3">
            <a:extLst>
              <a:ext uri="{FF2B5EF4-FFF2-40B4-BE49-F238E27FC236}">
                <a16:creationId xmlns:a16="http://schemas.microsoft.com/office/drawing/2014/main" id="{438D0CDF-C19E-1971-51CA-F1B5BED891DE}"/>
              </a:ext>
            </a:extLst>
          </p:cNvPr>
          <p:cNvSpPr>
            <a:spLocks noGrp="1"/>
          </p:cNvSpPr>
          <p:nvPr>
            <p:ph type="sldNum" sz="quarter" idx="5"/>
          </p:nvPr>
        </p:nvSpPr>
        <p:spPr/>
        <p:txBody>
          <a:bodyPr/>
          <a:lstStyle/>
          <a:p>
            <a:fld id="{2A5B0427-2955-0244-A172-B54A6B70A2D0}" type="slidenum">
              <a:rPr lang="en-US" smtClean="0"/>
              <a:t>14</a:t>
            </a:fld>
            <a:endParaRPr lang="en-US"/>
          </a:p>
        </p:txBody>
      </p:sp>
    </p:spTree>
    <p:extLst>
      <p:ext uri="{BB962C8B-B14F-4D97-AF65-F5344CB8AC3E}">
        <p14:creationId xmlns:p14="http://schemas.microsoft.com/office/powerpoint/2010/main" val="32653893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machine learning models can enhance price predictions, they also face challenges such as data quality, overfitting, and the ever-evolving nature of the cryptocurrency market.</a:t>
            </a:r>
          </a:p>
        </p:txBody>
      </p:sp>
      <p:sp>
        <p:nvSpPr>
          <p:cNvPr id="4" name="Slide Number Placeholder 3"/>
          <p:cNvSpPr>
            <a:spLocks noGrp="1"/>
          </p:cNvSpPr>
          <p:nvPr>
            <p:ph type="sldNum" sz="quarter" idx="5"/>
          </p:nvPr>
        </p:nvSpPr>
        <p:spPr/>
        <p:txBody>
          <a:bodyPr/>
          <a:lstStyle/>
          <a:p>
            <a:fld id="{2A5B0427-2955-0244-A172-B54A6B70A2D0}" type="slidenum">
              <a:rPr lang="en-US" smtClean="0"/>
              <a:t>15</a:t>
            </a:fld>
            <a:endParaRPr lang="en-US"/>
          </a:p>
        </p:txBody>
      </p:sp>
    </p:spTree>
    <p:extLst>
      <p:ext uri="{BB962C8B-B14F-4D97-AF65-F5344CB8AC3E}">
        <p14:creationId xmlns:p14="http://schemas.microsoft.com/office/powerpoint/2010/main" val="1306021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risks and ethical implications of predicting cryptocurrency prices is crucial for responsible trading. This final section will address these important issues.</a:t>
            </a:r>
          </a:p>
        </p:txBody>
      </p:sp>
      <p:sp>
        <p:nvSpPr>
          <p:cNvPr id="4" name="Slide Number Placeholder 3"/>
          <p:cNvSpPr>
            <a:spLocks noGrp="1"/>
          </p:cNvSpPr>
          <p:nvPr>
            <p:ph type="sldNum" sz="quarter" idx="5"/>
          </p:nvPr>
        </p:nvSpPr>
        <p:spPr/>
        <p:txBody>
          <a:bodyPr/>
          <a:lstStyle/>
          <a:p>
            <a:fld id="{2A5B0427-2955-0244-A172-B54A6B70A2D0}" type="slidenum">
              <a:rPr lang="en-US" smtClean="0"/>
              <a:t>16</a:t>
            </a:fld>
            <a:endParaRPr lang="en-US"/>
          </a:p>
        </p:txBody>
      </p:sp>
    </p:spTree>
    <p:extLst>
      <p:ext uri="{BB962C8B-B14F-4D97-AF65-F5344CB8AC3E}">
        <p14:creationId xmlns:p14="http://schemas.microsoft.com/office/powerpoint/2010/main" val="24921126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Market manipulation remains a significant risk in the cryptocurrency space. We will discuss how traders can protect themselves and the regulatory landscape surrounding these concerns.</a:t>
            </a:r>
          </a:p>
        </p:txBody>
      </p:sp>
      <p:sp>
        <p:nvSpPr>
          <p:cNvPr id="4" name="Slide Number Placeholder 3"/>
          <p:cNvSpPr>
            <a:spLocks noGrp="1"/>
          </p:cNvSpPr>
          <p:nvPr>
            <p:ph type="sldNum" sz="quarter" idx="5"/>
          </p:nvPr>
        </p:nvSpPr>
        <p:spPr/>
        <p:txBody>
          <a:bodyPr/>
          <a:lstStyle/>
          <a:p>
            <a:fld id="{2A5B0427-2955-0244-A172-B54A6B70A2D0}" type="slidenum">
              <a:rPr lang="en-US" smtClean="0"/>
              <a:t>17</a:t>
            </a:fld>
            <a:endParaRPr lang="en-US"/>
          </a:p>
        </p:txBody>
      </p:sp>
    </p:spTree>
    <p:extLst>
      <p:ext uri="{BB962C8B-B14F-4D97-AF65-F5344CB8AC3E}">
        <p14:creationId xmlns:p14="http://schemas.microsoft.com/office/powerpoint/2010/main" val="942293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predicting cryptocurrency prices involves various techniques and approaches, each with its challenges. By understanding these methods and remaining aware of ethical considerations, traders can make informed decisions in this dynamic market.</a:t>
            </a:r>
          </a:p>
        </p:txBody>
      </p:sp>
      <p:sp>
        <p:nvSpPr>
          <p:cNvPr id="4" name="Slide Number Placeholder 3"/>
          <p:cNvSpPr>
            <a:spLocks noGrp="1"/>
          </p:cNvSpPr>
          <p:nvPr>
            <p:ph type="sldNum" sz="quarter" idx="5"/>
          </p:nvPr>
        </p:nvSpPr>
        <p:spPr/>
        <p:txBody>
          <a:bodyPr/>
          <a:lstStyle/>
          <a:p>
            <a:fld id="{2A5B0427-2955-0244-A172-B54A6B70A2D0}" type="slidenum">
              <a:rPr lang="en-US" smtClean="0"/>
              <a:t>18</a:t>
            </a:fld>
            <a:endParaRPr lang="en-US"/>
          </a:p>
        </p:txBody>
      </p:sp>
    </p:spTree>
    <p:extLst>
      <p:ext uri="{BB962C8B-B14F-4D97-AF65-F5344CB8AC3E}">
        <p14:creationId xmlns:p14="http://schemas.microsoft.com/office/powerpoint/2010/main" val="252692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59394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4033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8533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69871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75889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169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62411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01466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01246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61712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9898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7/24/2025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128736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56C5C09-0043-4549-B800-2101B70D6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A90B16-DD99-6088-70F9-6E24B53C9793}"/>
              </a:ext>
            </a:extLst>
          </p:cNvPr>
          <p:cNvSpPr>
            <a:spLocks noGrp="1"/>
          </p:cNvSpPr>
          <p:nvPr>
            <p:ph type="ctrTitle"/>
          </p:nvPr>
        </p:nvSpPr>
        <p:spPr>
          <a:xfrm>
            <a:off x="6699869" y="978407"/>
            <a:ext cx="4983480" cy="3976380"/>
          </a:xfrm>
        </p:spPr>
        <p:txBody>
          <a:bodyPr anchor="t">
            <a:normAutofit/>
          </a:bodyPr>
          <a:lstStyle/>
          <a:p>
            <a:pPr>
              <a:lnSpc>
                <a:spcPct val="90000"/>
              </a:lnSpc>
            </a:pPr>
            <a:r>
              <a:rPr lang="en-US" sz="4200" dirty="0"/>
              <a:t>Predicting the Price of Next Day Cryptocurrencies:</a:t>
            </a:r>
            <a:br>
              <a:rPr lang="en-US" sz="4200" dirty="0"/>
            </a:br>
            <a:r>
              <a:rPr lang="en-US" sz="4200" dirty="0"/>
              <a:t>By using AI Models</a:t>
            </a:r>
          </a:p>
        </p:txBody>
      </p:sp>
      <p:sp>
        <p:nvSpPr>
          <p:cNvPr id="3" name="Subtitle 2">
            <a:extLst>
              <a:ext uri="{FF2B5EF4-FFF2-40B4-BE49-F238E27FC236}">
                <a16:creationId xmlns:a16="http://schemas.microsoft.com/office/drawing/2014/main" id="{DC8A588F-52DB-7B9F-E3E6-0B42702DCCD7}"/>
              </a:ext>
            </a:extLst>
          </p:cNvPr>
          <p:cNvSpPr>
            <a:spLocks noGrp="1"/>
          </p:cNvSpPr>
          <p:nvPr>
            <p:ph type="subTitle" idx="1"/>
          </p:nvPr>
        </p:nvSpPr>
        <p:spPr>
          <a:xfrm>
            <a:off x="6699869" y="5275825"/>
            <a:ext cx="4983481" cy="1070177"/>
          </a:xfrm>
        </p:spPr>
        <p:txBody>
          <a:bodyPr anchor="t">
            <a:normAutofit fontScale="92500" lnSpcReduction="10000"/>
          </a:bodyPr>
          <a:lstStyle/>
          <a:p>
            <a:r>
              <a:rPr lang="en-US" sz="2400" dirty="0"/>
              <a:t>Presented by:  </a:t>
            </a:r>
            <a:r>
              <a:rPr lang="en-CA" b="1" i="0" dirty="0"/>
              <a:t>Afsaneh </a:t>
            </a:r>
            <a:r>
              <a:rPr lang="en-CA" b="1" i="0" dirty="0" err="1"/>
              <a:t>Zahmatkesh</a:t>
            </a:r>
            <a:r>
              <a:rPr lang="en-CA" b="1" i="0" dirty="0"/>
              <a:t>, Mohammed , </a:t>
            </a:r>
            <a:r>
              <a:rPr lang="en-CA" b="1" i="0" dirty="0" err="1"/>
              <a:t>Matiasvelastegui</a:t>
            </a:r>
            <a:r>
              <a:rPr lang="en-CA" b="1" i="0" dirty="0"/>
              <a:t>, Soumya, Zhen</a:t>
            </a:r>
            <a:endParaRPr lang="en-US" sz="2400" dirty="0"/>
          </a:p>
        </p:txBody>
      </p:sp>
      <p:pic>
        <p:nvPicPr>
          <p:cNvPr id="4" name="Picture 3" descr="Bitcoin cryptocurrency blockchain currency finance investment chart data">
            <a:extLst>
              <a:ext uri="{FF2B5EF4-FFF2-40B4-BE49-F238E27FC236}">
                <a16:creationId xmlns:a16="http://schemas.microsoft.com/office/drawing/2014/main" id="{8AC0813B-960D-44FF-9B32-1AF0D89FA483}"/>
              </a:ext>
            </a:extLst>
          </p:cNvPr>
          <p:cNvPicPr>
            <a:picLocks noChangeAspect="1"/>
          </p:cNvPicPr>
          <p:nvPr/>
        </p:nvPicPr>
        <p:blipFill>
          <a:blip r:embed="rId3"/>
          <a:srcRect l="10471" r="17968" b="1"/>
          <a:stretch>
            <a:fillRect/>
          </a:stretch>
        </p:blipFill>
        <p:spPr>
          <a:xfrm>
            <a:off x="525664" y="508090"/>
            <a:ext cx="5570336" cy="5837913"/>
          </a:xfrm>
          <a:prstGeom prst="rect">
            <a:avLst/>
          </a:prstGeom>
        </p:spPr>
      </p:pic>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3493" y="508090"/>
            <a:ext cx="4983481"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347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28853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AB1E35EA-FB9C-AE5F-4AB8-1B3D59CC9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22976" y="611650"/>
            <a:ext cx="614476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35BF1B39-F54B-544A-0D27-F45F75C670F3}"/>
              </a:ext>
            </a:extLst>
          </p:cNvPr>
          <p:cNvSpPr>
            <a:spLocks noGrp="1"/>
          </p:cNvSpPr>
          <p:nvPr>
            <p:ph type="title"/>
          </p:nvPr>
        </p:nvSpPr>
        <p:spPr>
          <a:xfrm>
            <a:off x="521208" y="978408"/>
            <a:ext cx="4288536" cy="5376672"/>
          </a:xfrm>
        </p:spPr>
        <p:txBody>
          <a:bodyPr>
            <a:normAutofit/>
          </a:bodyPr>
          <a:lstStyle/>
          <a:p>
            <a:r>
              <a:rPr lang="en-US" dirty="0"/>
              <a:t>Agenda of Topics</a:t>
            </a:r>
          </a:p>
        </p:txBody>
      </p:sp>
      <p:sp>
        <p:nvSpPr>
          <p:cNvPr id="3" name="Content Placeholder 2">
            <a:extLst>
              <a:ext uri="{FF2B5EF4-FFF2-40B4-BE49-F238E27FC236}">
                <a16:creationId xmlns:a16="http://schemas.microsoft.com/office/drawing/2014/main" id="{81A28BC4-8255-4155-E005-5E38126F7CAC}"/>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5522976" y="1042416"/>
            <a:ext cx="6144768" cy="5312664"/>
          </a:xfrm>
        </p:spPr>
        <p:txBody>
          <a:bodyPr>
            <a:normAutofit/>
          </a:bodyPr>
          <a:lstStyle/>
          <a:p>
            <a:r>
              <a:rPr lang="en-CA" sz="2800" b="1" dirty="0"/>
              <a:t>Business Use Case for Crypto Currency </a:t>
            </a:r>
          </a:p>
          <a:p>
            <a:r>
              <a:rPr lang="en-CA" sz="2800" b="1" dirty="0"/>
              <a:t>Data Cleansing and Feature Engineering</a:t>
            </a:r>
          </a:p>
          <a:p>
            <a:r>
              <a:rPr lang="en-CA" sz="2800" b="1" dirty="0"/>
              <a:t>Machine Learning and Predictive Models: </a:t>
            </a:r>
          </a:p>
          <a:p>
            <a:r>
              <a:rPr lang="en-CA" sz="2800" b="1" dirty="0"/>
              <a:t>Risks and Ethical Considerations</a:t>
            </a:r>
            <a:endParaRPr lang="en-US" sz="2800" b="1" dirty="0"/>
          </a:p>
        </p:txBody>
      </p:sp>
    </p:spTree>
    <p:extLst>
      <p:ext uri="{BB962C8B-B14F-4D97-AF65-F5344CB8AC3E}">
        <p14:creationId xmlns:p14="http://schemas.microsoft.com/office/powerpoint/2010/main" val="32648596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25151EB-8255-3E0D-4648-DA786BB35E52}"/>
              </a:ext>
            </a:extLst>
          </p:cNvPr>
          <p:cNvSpPr>
            <a:spLocks noGrp="1"/>
          </p:cNvSpPr>
          <p:nvPr>
            <p:ph type="ctrTitle"/>
          </p:nvPr>
        </p:nvSpPr>
        <p:spPr>
          <a:xfrm>
            <a:off x="521207" y="1211766"/>
            <a:ext cx="10559747" cy="4727988"/>
          </a:xfrm>
        </p:spPr>
        <p:txBody>
          <a:bodyPr anchor="b">
            <a:normAutofit/>
          </a:bodyPr>
          <a:lstStyle/>
          <a:p>
            <a:r>
              <a:rPr lang="en-CA" sz="6000" dirty="0"/>
              <a:t>Business Use Case : Crypto Currency Predicter for next day value</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77369660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B52382-04FE-0EC7-5D20-EBE532E4F306}"/>
              </a:ext>
            </a:extLst>
          </p:cNvPr>
          <p:cNvSpPr>
            <a:spLocks noGrp="1"/>
          </p:cNvSpPr>
          <p:nvPr>
            <p:ph type="title"/>
          </p:nvPr>
        </p:nvSpPr>
        <p:spPr>
          <a:xfrm>
            <a:off x="5431535" y="978407"/>
            <a:ext cx="6504825" cy="1715631"/>
          </a:xfrm>
        </p:spPr>
        <p:txBody>
          <a:bodyPr vert="horz" lIns="91440" tIns="45720" rIns="91440" bIns="45720" rtlCol="0" anchor="t">
            <a:normAutofit fontScale="90000"/>
          </a:bodyPr>
          <a:lstStyle/>
          <a:p>
            <a:r>
              <a:rPr lang="en-CA" dirty="0"/>
              <a:t>Crypto Currency Predicter for next day value- Overview: </a:t>
            </a:r>
            <a:endParaRPr lang="en-US" sz="4100" b="1" kern="1200" dirty="0">
              <a:solidFill>
                <a:schemeClr val="tx1"/>
              </a:solidFill>
              <a:latin typeface="+mj-lt"/>
              <a:ea typeface="+mj-ea"/>
              <a:cs typeface="+mj-cs"/>
            </a:endParaRPr>
          </a:p>
        </p:txBody>
      </p:sp>
      <p:pic>
        <p:nvPicPr>
          <p:cNvPr id="5" name="Content Placeholder 4" descr="Bitcoin cryptocurrency payment system">
            <a:extLst>
              <a:ext uri="{FF2B5EF4-FFF2-40B4-BE49-F238E27FC236}">
                <a16:creationId xmlns:a16="http://schemas.microsoft.com/office/drawing/2014/main" id="{BB066714-9611-4BDC-9780-2A2D7963FA6A}"/>
              </a:ext>
            </a:extLst>
          </p:cNvPr>
          <p:cNvPicPr>
            <a:picLocks noGrp="1" noChangeAspect="1"/>
          </p:cNvPicPr>
          <p:nvPr>
            <p:ph sz="half" idx="1"/>
          </p:nvPr>
        </p:nvPicPr>
        <p:blipFill>
          <a:blip r:embed="rId3"/>
          <a:srcRect l="26031" r="25696" b="1"/>
          <a:stretch>
            <a:fillRect/>
          </a:stretch>
        </p:blipFill>
        <p:spPr>
          <a:xfrm>
            <a:off x="517869" y="508091"/>
            <a:ext cx="4221911" cy="5837918"/>
          </a:xfrm>
          <a:prstGeom prst="rect">
            <a:avLst/>
          </a:prstGeom>
        </p:spPr>
      </p:pic>
      <p:sp>
        <p:nvSpPr>
          <p:cNvPr id="14" name="Freeform: Shape 13">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ontent Placeholder 3">
            <a:extLst>
              <a:ext uri="{FF2B5EF4-FFF2-40B4-BE49-F238E27FC236}">
                <a16:creationId xmlns:a16="http://schemas.microsoft.com/office/drawing/2014/main" id="{28302B87-106A-46B9-8276-28C8D241210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1535" y="3015076"/>
            <a:ext cx="6236208" cy="3767328"/>
          </a:xfrm>
        </p:spPr>
        <p:txBody>
          <a:bodyPr>
            <a:normAutofit/>
          </a:bodyPr>
          <a:lstStyle/>
          <a:p>
            <a:pPr marL="0" indent="0">
              <a:spcBef>
                <a:spcPts val="2500"/>
              </a:spcBef>
              <a:buNone/>
            </a:pPr>
            <a:r>
              <a:rPr lang="en-CA" sz="1400" b="1" dirty="0"/>
              <a:t>Digital Currencies</a:t>
            </a:r>
          </a:p>
          <a:p>
            <a:pPr marL="0" lvl="1" indent="0">
              <a:buNone/>
            </a:pPr>
            <a:r>
              <a:rPr lang="en-CA" sz="1400" dirty="0"/>
              <a:t>To give you a brief Cryptocurrencies are digital or virtual currencies, providing a modern alternative to traditional money and payment systems. </a:t>
            </a:r>
          </a:p>
          <a:p>
            <a:pPr marL="0" lvl="1" indent="0">
              <a:buNone/>
            </a:pPr>
            <a:endParaRPr lang="en-CA" sz="1400" dirty="0"/>
          </a:p>
          <a:p>
            <a:pPr marL="0" lvl="1" indent="0">
              <a:buNone/>
            </a:pPr>
            <a:r>
              <a:rPr lang="en-CA" sz="1400" dirty="0"/>
              <a:t>For our use case, </a:t>
            </a:r>
            <a:r>
              <a:rPr lang="en-US" sz="1400" dirty="0"/>
              <a:t>develop a model to predict the next-day closing price of a selected cryptocurrency (e.g., Bitcoin or Ethereum) using its historical daily market data.</a:t>
            </a:r>
          </a:p>
          <a:p>
            <a:pPr marL="0" lvl="1" indent="0">
              <a:buNone/>
            </a:pPr>
            <a:endParaRPr lang="en-US" sz="1400" dirty="0"/>
          </a:p>
          <a:p>
            <a:pPr marL="285750" lvl="1" indent="-285750"/>
            <a:r>
              <a:rPr lang="en-US" sz="1400" dirty="0"/>
              <a:t>Full disclosure the datasets that we are using to predict out model do not include Sentiment Analysis and Social Media Impact like for example: (Political Views, Stock market, Economy).</a:t>
            </a:r>
          </a:p>
          <a:p>
            <a:pPr marL="0" lvl="1" indent="0">
              <a:buNone/>
            </a:pPr>
            <a:endParaRPr lang="en-US" sz="1400" dirty="0"/>
          </a:p>
          <a:p>
            <a:pPr marL="0" lvl="1" indent="0">
              <a:buNone/>
            </a:pPr>
            <a:endParaRPr lang="en-CA" sz="1400" dirty="0"/>
          </a:p>
        </p:txBody>
      </p:sp>
    </p:spTree>
    <p:extLst>
      <p:ext uri="{BB962C8B-B14F-4D97-AF65-F5344CB8AC3E}">
        <p14:creationId xmlns:p14="http://schemas.microsoft.com/office/powerpoint/2010/main" val="23598372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3C7D53F6-573A-B2D8-DDA6-7BCF9D18691A}"/>
              </a:ext>
            </a:extLst>
          </p:cNvPr>
          <p:cNvSpPr>
            <a:spLocks noGrp="1"/>
          </p:cNvSpPr>
          <p:nvPr>
            <p:ph type="ctrTitle"/>
          </p:nvPr>
        </p:nvSpPr>
        <p:spPr>
          <a:xfrm>
            <a:off x="521208" y="1211766"/>
            <a:ext cx="7237052" cy="4727988"/>
          </a:xfrm>
        </p:spPr>
        <p:txBody>
          <a:bodyPr anchor="b">
            <a:normAutofit/>
          </a:bodyPr>
          <a:lstStyle/>
          <a:p>
            <a:r>
              <a:rPr lang="en-US" sz="7400"/>
              <a:t>Data Cleansing and Feature Engineering</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408917064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1" name="Rectangle 20">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3AA985-7D94-38B7-EDD7-A89BA0DDD220}"/>
              </a:ext>
            </a:extLst>
          </p:cNvPr>
          <p:cNvSpPr>
            <a:spLocks noGrp="1"/>
          </p:cNvSpPr>
          <p:nvPr>
            <p:ph type="title"/>
          </p:nvPr>
        </p:nvSpPr>
        <p:spPr>
          <a:xfrm>
            <a:off x="521208" y="978408"/>
            <a:ext cx="6537960" cy="1463040"/>
          </a:xfrm>
        </p:spPr>
        <p:txBody>
          <a:bodyPr vert="horz" lIns="91440" tIns="45720" rIns="91440" bIns="45720" rtlCol="0" anchor="t">
            <a:normAutofit/>
          </a:bodyPr>
          <a:lstStyle/>
          <a:p>
            <a:r>
              <a:rPr lang="en-US" b="1" kern="1200">
                <a:solidFill>
                  <a:schemeClr val="tx1"/>
                </a:solidFill>
                <a:latin typeface="+mj-lt"/>
                <a:ea typeface="+mj-ea"/>
                <a:cs typeface="+mj-cs"/>
              </a:rPr>
              <a:t>Techniques for Data Cleansing</a:t>
            </a:r>
          </a:p>
        </p:txBody>
      </p:sp>
      <p:sp>
        <p:nvSpPr>
          <p:cNvPr id="23" name="Freeform: Shape 22">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ontent Placeholder 3">
            <a:extLst>
              <a:ext uri="{FF2B5EF4-FFF2-40B4-BE49-F238E27FC236}">
                <a16:creationId xmlns:a16="http://schemas.microsoft.com/office/drawing/2014/main" id="{467A606B-26BA-09C6-E85A-F129F70193F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2578608"/>
            <a:ext cx="6537960" cy="3767328"/>
          </a:xfrm>
        </p:spPr>
        <p:txBody>
          <a:bodyPr>
            <a:normAutofit lnSpcReduction="10000"/>
          </a:bodyPr>
          <a:lstStyle/>
          <a:p>
            <a:pPr>
              <a:spcBef>
                <a:spcPts val="2500"/>
              </a:spcBef>
            </a:pPr>
            <a:r>
              <a:rPr lang="en-US" sz="1400" b="1" dirty="0"/>
              <a:t>**Data Cleansing:** </a:t>
            </a:r>
            <a:br>
              <a:rPr lang="en-US" sz="1400" b="1" dirty="0"/>
            </a:br>
            <a:r>
              <a:rPr lang="en-US" sz="1400" b="1" dirty="0"/>
              <a:t>The data cleansing steps in this notebook are crucial for ensuring the reliability and quality of the cryptocurrency dataset. </a:t>
            </a:r>
          </a:p>
          <a:p>
            <a:pPr>
              <a:spcBef>
                <a:spcPts val="2500"/>
              </a:spcBef>
            </a:pPr>
            <a:r>
              <a:rPr lang="en-US" sz="1400" b="1" dirty="0"/>
              <a:t>The process begins by removing rows with no meaningful trading activity, specifically those where all price and volume fields are zero, which helps eliminate noise and irrelevant records. Further, rows with zero market capitalization but valid prices are excluded, as these likely indicate missing supply data and could distort analysis. </a:t>
            </a:r>
          </a:p>
          <a:p>
            <a:pPr>
              <a:spcBef>
                <a:spcPts val="2500"/>
              </a:spcBef>
            </a:pPr>
            <a:r>
              <a:rPr lang="en-US" sz="1400" b="1" dirty="0"/>
              <a:t>The notebook also flags and tracks records with zero trading volume despite valid prices, providing transparency for potential anomalies. Additionally, the dataset is filtered to include only records from December 27, 2013 onward, ensuring consistent volume data availability. These steps collectively help produce a cleaner, more accurate dataset, reducing the risk of misleading results in subsequent modeling.</a:t>
            </a:r>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B507D989-F4B4-48E2-A354-E514A278C9F9}"/>
              </a:ext>
            </a:extLst>
          </p:cNvPr>
          <p:cNvPicPr>
            <a:picLocks noGrp="1" noChangeAspect="1"/>
          </p:cNvPicPr>
          <p:nvPr>
            <p:ph sz="half" idx="1"/>
          </p:nvPr>
        </p:nvPicPr>
        <p:blipFill>
          <a:blip r:embed="rId3"/>
          <a:srcRect l="29062" r="21089"/>
          <a:stretch>
            <a:fillRect/>
          </a:stretch>
        </p:blipFill>
        <p:spPr>
          <a:xfrm>
            <a:off x="7659149" y="976160"/>
            <a:ext cx="4011643" cy="5371797"/>
          </a:xfrm>
          <a:prstGeom prst="rect">
            <a:avLst/>
          </a:prstGeom>
        </p:spPr>
      </p:pic>
    </p:spTree>
    <p:extLst>
      <p:ext uri="{BB962C8B-B14F-4D97-AF65-F5344CB8AC3E}">
        <p14:creationId xmlns:p14="http://schemas.microsoft.com/office/powerpoint/2010/main" val="34838379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2916AF-B4AC-02F5-00F6-043F26F56A4C}"/>
            </a:ext>
          </a:extLst>
        </p:cNvPr>
        <p:cNvGrpSpPr/>
        <p:nvPr/>
      </p:nvGrpSpPr>
      <p:grpSpPr>
        <a:xfrm>
          <a:off x="0" y="0"/>
          <a:ext cx="0" cy="0"/>
          <a:chOff x="0" y="0"/>
          <a:chExt cx="0" cy="0"/>
        </a:xfrm>
      </p:grpSpPr>
      <p:sp>
        <p:nvSpPr>
          <p:cNvPr id="21" name="Freeform: Shape 2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3" name="Rectangle 22">
            <a:extLst>
              <a:ext uri="{FF2B5EF4-FFF2-40B4-BE49-F238E27FC236}">
                <a16:creationId xmlns:a16="http://schemas.microsoft.com/office/drawing/2014/main" id="{83AC883F-69DD-D349-B469-8CDE2139F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B35D40-6964-F95E-C516-FB5A0365B572}"/>
              </a:ext>
            </a:extLst>
          </p:cNvPr>
          <p:cNvSpPr>
            <a:spLocks noGrp="1"/>
          </p:cNvSpPr>
          <p:nvPr>
            <p:ph type="title"/>
          </p:nvPr>
        </p:nvSpPr>
        <p:spPr>
          <a:xfrm>
            <a:off x="521208" y="978408"/>
            <a:ext cx="4032504" cy="2121408"/>
          </a:xfrm>
        </p:spPr>
        <p:txBody>
          <a:bodyPr vert="horz" lIns="91440" tIns="45720" rIns="91440" bIns="45720" rtlCol="0" anchor="t">
            <a:normAutofit/>
          </a:bodyPr>
          <a:lstStyle/>
          <a:p>
            <a:r>
              <a:rPr lang="en-US" sz="3700" b="1" kern="1200" dirty="0">
                <a:solidFill>
                  <a:schemeClr val="tx1"/>
                </a:solidFill>
                <a:latin typeface="+mj-lt"/>
                <a:ea typeface="+mj-ea"/>
                <a:cs typeface="+mj-cs"/>
              </a:rPr>
              <a:t>Feature Engineering for Time Series Data</a:t>
            </a:r>
          </a:p>
        </p:txBody>
      </p:sp>
      <p:sp>
        <p:nvSpPr>
          <p:cNvPr id="25" name="Rectangle 24">
            <a:extLst>
              <a:ext uri="{FF2B5EF4-FFF2-40B4-BE49-F238E27FC236}">
                <a16:creationId xmlns:a16="http://schemas.microsoft.com/office/drawing/2014/main" id="{5B0749EA-BE79-9EB1-B769-385489D43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03336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E5913DE-5FC3-6E84-57B7-19B2096A5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76630" y="612648"/>
            <a:ext cx="659282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Laptop Secure">
            <a:extLst>
              <a:ext uri="{FF2B5EF4-FFF2-40B4-BE49-F238E27FC236}">
                <a16:creationId xmlns:a16="http://schemas.microsoft.com/office/drawing/2014/main" id="{AAE217B0-2B63-D4FE-E3F3-DC17570F2B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7869" y="3511363"/>
            <a:ext cx="2834640" cy="2834640"/>
          </a:xfrm>
          <a:prstGeom prst="rect">
            <a:avLst/>
          </a:prstGeom>
        </p:spPr>
      </p:pic>
      <p:sp>
        <p:nvSpPr>
          <p:cNvPr id="4" name="Content Placeholder 3">
            <a:extLst>
              <a:ext uri="{FF2B5EF4-FFF2-40B4-BE49-F238E27FC236}">
                <a16:creationId xmlns:a16="http://schemas.microsoft.com/office/drawing/2014/main" id="{1408B3D0-2241-6281-2915-D1912D9B6FC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74920" y="1033272"/>
            <a:ext cx="6592824" cy="5312664"/>
          </a:xfrm>
        </p:spPr>
        <p:txBody>
          <a:bodyPr>
            <a:normAutofit/>
          </a:bodyPr>
          <a:lstStyle/>
          <a:p>
            <a:pPr marL="0" indent="0">
              <a:spcBef>
                <a:spcPts val="2500"/>
              </a:spcBef>
              <a:buNone/>
            </a:pPr>
            <a:r>
              <a:rPr lang="en-US" sz="1400" dirty="0"/>
              <a:t>Feature engineering transforms the raw data into a richer set of predictors that enhance model performance and interpretability. In this notebook, several new features are created to capture price dynamics and trends</a:t>
            </a:r>
            <a:r>
              <a:rPr lang="en-US" sz="1400" b="1" dirty="0"/>
              <a:t>:</a:t>
            </a:r>
          </a:p>
          <a:p>
            <a:pPr marL="0" indent="0">
              <a:spcBef>
                <a:spcPts val="2500"/>
              </a:spcBef>
              <a:buNone/>
            </a:pPr>
            <a:r>
              <a:rPr lang="en-US" sz="1400" b="1" dirty="0"/>
              <a:t>- **Daily Spread:** Difference between high and low prices for each day.</a:t>
            </a:r>
            <a:br>
              <a:rPr lang="en-US" sz="1400" b="1" dirty="0"/>
            </a:br>
            <a:r>
              <a:rPr lang="en-US" sz="1400" b="1" dirty="0"/>
              <a:t>- **Daily Return:** </a:t>
            </a:r>
            <a:r>
              <a:rPr lang="en-US" sz="1400" dirty="0"/>
              <a:t>Percentage change from open to close price.</a:t>
            </a:r>
            <a:br>
              <a:rPr lang="en-US" sz="1400" b="1" dirty="0"/>
            </a:br>
            <a:r>
              <a:rPr lang="en-US" sz="1400" b="1" dirty="0"/>
              <a:t>- **Moving Averages:** </a:t>
            </a:r>
            <a:r>
              <a:rPr lang="en-US" sz="1400" dirty="0"/>
              <a:t>3-day, 7-day, and 14-day moving averages of the close price to capture short- and medium-term trends.</a:t>
            </a:r>
            <a:br>
              <a:rPr lang="en-US" sz="1400" b="1" dirty="0"/>
            </a:br>
            <a:r>
              <a:rPr lang="en-US" sz="1400" b="1" dirty="0"/>
              <a:t>- **Volatility:** </a:t>
            </a:r>
            <a:r>
              <a:rPr lang="en-US" sz="1400" dirty="0"/>
              <a:t>7-day rolling standard deviation of the close price to measure price fluctuations.</a:t>
            </a:r>
            <a:br>
              <a:rPr lang="en-US" sz="1400" b="1" dirty="0"/>
            </a:br>
            <a:r>
              <a:rPr lang="en-US" sz="1400" b="1" dirty="0"/>
              <a:t>- **Lagged Features:** </a:t>
            </a:r>
            <a:r>
              <a:rPr lang="en-US" sz="1400" dirty="0"/>
              <a:t>Previous day's close and volume to provide temporal context for predictions.</a:t>
            </a:r>
            <a:br>
              <a:rPr lang="en-US" sz="1400" b="1" dirty="0"/>
            </a:br>
            <a:r>
              <a:rPr lang="en-US" sz="1400" b="1" dirty="0"/>
              <a:t>- **Market Capitalization Rank:** </a:t>
            </a:r>
            <a:r>
              <a:rPr lang="en-US" sz="1400" dirty="0"/>
              <a:t>Relative ranking of each coin by market capitalization for each date.</a:t>
            </a:r>
            <a:br>
              <a:rPr lang="en-US" sz="1400" b="1" dirty="0"/>
            </a:br>
            <a:r>
              <a:rPr lang="en-US" sz="1400" b="1" dirty="0"/>
              <a:t>- **Target Variable:** </a:t>
            </a:r>
            <a:r>
              <a:rPr lang="en-US" sz="1400" dirty="0"/>
              <a:t>Next day's close price, used as the prediction target for modeling. By constructing these features, the dataset becomes more informative, enabling machine learning models to better capture patterns and relationships in cryptocurrency price movements.</a:t>
            </a:r>
          </a:p>
        </p:txBody>
      </p:sp>
    </p:spTree>
    <p:extLst>
      <p:ext uri="{BB962C8B-B14F-4D97-AF65-F5344CB8AC3E}">
        <p14:creationId xmlns:p14="http://schemas.microsoft.com/office/powerpoint/2010/main" val="24624304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4175C1A-5B1F-2BBA-BE9F-E1299797B5C6}"/>
              </a:ext>
            </a:extLst>
          </p:cNvPr>
          <p:cNvSpPr>
            <a:spLocks noGrp="1"/>
          </p:cNvSpPr>
          <p:nvPr>
            <p:ph type="ctrTitle"/>
          </p:nvPr>
        </p:nvSpPr>
        <p:spPr>
          <a:xfrm>
            <a:off x="521208" y="1211766"/>
            <a:ext cx="7237052" cy="4727988"/>
          </a:xfrm>
        </p:spPr>
        <p:txBody>
          <a:bodyPr anchor="b">
            <a:normAutofit fontScale="90000"/>
          </a:bodyPr>
          <a:lstStyle/>
          <a:p>
            <a:r>
              <a:rPr lang="en-US" sz="7400" dirty="0"/>
              <a:t>Machine Learning and Predictive Models that we used:</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110282342"/>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1B2115-9955-07D2-0611-B2AD87EFF37C}"/>
              </a:ext>
            </a:extLst>
          </p:cNvPr>
          <p:cNvSpPr>
            <a:spLocks noGrp="1"/>
          </p:cNvSpPr>
          <p:nvPr>
            <p:ph type="title"/>
          </p:nvPr>
        </p:nvSpPr>
        <p:spPr>
          <a:xfrm>
            <a:off x="521208" y="978408"/>
            <a:ext cx="6300216" cy="1463040"/>
          </a:xfrm>
        </p:spPr>
        <p:txBody>
          <a:bodyPr vert="horz" lIns="91440" tIns="45720" rIns="91440" bIns="45720" rtlCol="0" anchor="t">
            <a:normAutofit/>
          </a:bodyPr>
          <a:lstStyle/>
          <a:p>
            <a:pPr>
              <a:lnSpc>
                <a:spcPct val="90000"/>
              </a:lnSpc>
            </a:pPr>
            <a:r>
              <a:rPr lang="en-US" sz="3100" b="1" kern="1200">
                <a:solidFill>
                  <a:schemeClr val="tx1"/>
                </a:solidFill>
                <a:latin typeface="+mj-lt"/>
                <a:ea typeface="+mj-ea"/>
                <a:cs typeface="+mj-cs"/>
              </a:rPr>
              <a:t>Popular Models (Linear Regression, LSTM, Random Forest)</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6C33D736-6EFA-209C-BE6F-2D53ADC8686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2578608"/>
            <a:ext cx="6300216" cy="3767328"/>
          </a:xfrm>
        </p:spPr>
        <p:txBody>
          <a:bodyPr>
            <a:normAutofit/>
          </a:bodyPr>
          <a:lstStyle/>
          <a:p>
            <a:pPr marL="0" indent="0">
              <a:spcBef>
                <a:spcPts val="2500"/>
              </a:spcBef>
              <a:buNone/>
            </a:pPr>
            <a:r>
              <a:rPr lang="en-CA" sz="1400" b="1" dirty="0"/>
              <a:t>Linear Regression</a:t>
            </a:r>
          </a:p>
          <a:p>
            <a:pPr marL="0" lvl="1" indent="0">
              <a:buNone/>
            </a:pPr>
            <a:r>
              <a:rPr lang="en-CA" sz="1400" dirty="0"/>
              <a:t>Linear regression is a foundational machine learning model used to predict outcomes based on the linear relationship between variables, making it useful for price prediction.</a:t>
            </a:r>
          </a:p>
          <a:p>
            <a:pPr marL="0" indent="0">
              <a:spcBef>
                <a:spcPts val="2500"/>
              </a:spcBef>
              <a:buNone/>
            </a:pPr>
            <a:r>
              <a:rPr lang="en-CA" sz="1400" b="1" dirty="0"/>
              <a:t>LSTM Networks</a:t>
            </a:r>
          </a:p>
          <a:p>
            <a:pPr marL="0" lvl="1" indent="0">
              <a:buNone/>
            </a:pPr>
            <a:r>
              <a:rPr lang="en-CA" sz="1400" dirty="0"/>
              <a:t>Long Short-Term Memory (LSTM) networks are a type of recurrent neural network ideal for sequence prediction, making them effective for analyzing time series data like cryptocurrency prices.</a:t>
            </a:r>
          </a:p>
          <a:p>
            <a:pPr marL="0" indent="0">
              <a:spcBef>
                <a:spcPts val="2500"/>
              </a:spcBef>
              <a:buNone/>
            </a:pPr>
            <a:r>
              <a:rPr lang="en-CA" sz="1400" b="1" dirty="0"/>
              <a:t>Random Forest</a:t>
            </a:r>
          </a:p>
          <a:p>
            <a:pPr marL="0" lvl="1" indent="0">
              <a:buNone/>
            </a:pPr>
            <a:r>
              <a:rPr lang="en-CA" sz="1400" dirty="0"/>
              <a:t>Random Forest is an ensemble learning method that combines multiple decision trees to improve accuracy and robustness in predictions, suitable for complex datasets like cryptocurrency prices.</a:t>
            </a:r>
            <a:endParaRPr lang="en-US" sz="1400" dirty="0"/>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8EDD1961-2E63-40FF-A3AF-59EFEF10415D}"/>
              </a:ext>
            </a:extLst>
          </p:cNvPr>
          <p:cNvPicPr>
            <a:picLocks noGrp="1" noChangeAspect="1"/>
          </p:cNvPicPr>
          <p:nvPr>
            <p:ph sz="half" idx="1"/>
          </p:nvPr>
        </p:nvPicPr>
        <p:blipFill>
          <a:blip r:embed="rId3"/>
          <a:srcRect l="21005" r="32396" b="1"/>
          <a:stretch>
            <a:fillRect/>
          </a:stretch>
        </p:blipFill>
        <p:spPr>
          <a:xfrm>
            <a:off x="7586236" y="508090"/>
            <a:ext cx="4081805" cy="5846990"/>
          </a:xfrm>
          <a:prstGeom prst="rect">
            <a:avLst/>
          </a:prstGeom>
        </p:spPr>
      </p:pic>
    </p:spTree>
    <p:extLst>
      <p:ext uri="{BB962C8B-B14F-4D97-AF65-F5344CB8AC3E}">
        <p14:creationId xmlns:p14="http://schemas.microsoft.com/office/powerpoint/2010/main" val="20668205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DCE8DB-96BE-C1D7-76D9-A3221FC6FD8C}"/>
            </a:ext>
          </a:extLst>
        </p:cNvPr>
        <p:cNvGrpSpPr/>
        <p:nvPr/>
      </p:nvGrpSpPr>
      <p:grpSpPr>
        <a:xfrm>
          <a:off x="0" y="0"/>
          <a:ext cx="0" cy="0"/>
          <a:chOff x="0" y="0"/>
          <a:chExt cx="0" cy="0"/>
        </a:xfrm>
      </p:grpSpPr>
      <p:sp>
        <p:nvSpPr>
          <p:cNvPr id="28" name="Freeform: Shape 2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0" name="Rectangle 29">
            <a:extLst>
              <a:ext uri="{FF2B5EF4-FFF2-40B4-BE49-F238E27FC236}">
                <a16:creationId xmlns:a16="http://schemas.microsoft.com/office/drawing/2014/main" id="{E2EF6F8F-597F-716E-5B22-76DC90B3E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C64610-93A7-A2CC-8387-EA4152B6F8CB}"/>
              </a:ext>
            </a:extLst>
          </p:cNvPr>
          <p:cNvSpPr>
            <a:spLocks noGrp="1"/>
          </p:cNvSpPr>
          <p:nvPr>
            <p:ph type="title"/>
          </p:nvPr>
        </p:nvSpPr>
        <p:spPr>
          <a:xfrm>
            <a:off x="521208" y="978408"/>
            <a:ext cx="4645152" cy="2788920"/>
          </a:xfrm>
        </p:spPr>
        <p:txBody>
          <a:bodyPr vert="horz" lIns="91440" tIns="45720" rIns="91440" bIns="45720" rtlCol="0" anchor="t">
            <a:normAutofit/>
          </a:bodyPr>
          <a:lstStyle/>
          <a:p>
            <a:r>
              <a:rPr lang="en-US" b="1" kern="1200">
                <a:solidFill>
                  <a:schemeClr val="tx1"/>
                </a:solidFill>
                <a:latin typeface="+mj-lt"/>
                <a:ea typeface="+mj-ea"/>
                <a:cs typeface="+mj-cs"/>
              </a:rPr>
              <a:t>Gated Recurrent Unit (GRU) Networks Model</a:t>
            </a:r>
          </a:p>
        </p:txBody>
      </p:sp>
      <p:sp>
        <p:nvSpPr>
          <p:cNvPr id="32" name="Freeform: Shape 31">
            <a:extLst>
              <a:ext uri="{FF2B5EF4-FFF2-40B4-BE49-F238E27FC236}">
                <a16:creationId xmlns:a16="http://schemas.microsoft.com/office/drawing/2014/main" id="{2AC934FA-18DC-F7A3-0EA7-05EDF7A32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ontent Placeholder 3">
            <a:extLst>
              <a:ext uri="{FF2B5EF4-FFF2-40B4-BE49-F238E27FC236}">
                <a16:creationId xmlns:a16="http://schemas.microsoft.com/office/drawing/2014/main" id="{57E26DFE-2480-1FB6-08A3-F8ABF56D8E5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68112" y="978408"/>
            <a:ext cx="6199632" cy="2788920"/>
          </a:xfrm>
        </p:spPr>
        <p:txBody>
          <a:bodyPr>
            <a:normAutofit/>
          </a:bodyPr>
          <a:lstStyle/>
          <a:p>
            <a:pPr marL="0" indent="0">
              <a:spcBef>
                <a:spcPts val="2500"/>
              </a:spcBef>
              <a:buNone/>
            </a:pPr>
            <a:r>
              <a:rPr lang="en-US" sz="1400" b="1"/>
              <a:t>GRU is designed for sequential data, making them effective for capturing temporal patterns in stock/ cryptocurrency prices. GRU is a lighter alternative to LSTMs, with similar performance  but fewer parameters and faster to train.</a:t>
            </a:r>
            <a:endParaRPr lang="en-US" sz="1400" b="1" dirty="0">
              <a:highlight>
                <a:srgbClr val="FFFF00"/>
              </a:highlight>
            </a:endParaRPr>
          </a:p>
        </p:txBody>
      </p:sp>
      <p:pic>
        <p:nvPicPr>
          <p:cNvPr id="7" name="Content Placeholder 6" descr="A graph with green and orange bars&#10;&#10;AI-generated content may be incorrect.">
            <a:extLst>
              <a:ext uri="{FF2B5EF4-FFF2-40B4-BE49-F238E27FC236}">
                <a16:creationId xmlns:a16="http://schemas.microsoft.com/office/drawing/2014/main" id="{4DDF526B-7EAE-AE46-0A58-0F6B733F121E}"/>
              </a:ext>
            </a:extLst>
          </p:cNvPr>
          <p:cNvPicPr>
            <a:picLocks noGrp="1" noChangeAspect="1"/>
          </p:cNvPicPr>
          <p:nvPr>
            <p:ph sz="half" idx="1"/>
          </p:nvPr>
        </p:nvPicPr>
        <p:blipFill>
          <a:blip r:embed="rId3"/>
          <a:srcRect r="-1" b="15170"/>
          <a:stretch>
            <a:fillRect/>
          </a:stretch>
        </p:blipFill>
        <p:spPr>
          <a:xfrm>
            <a:off x="517869" y="3979333"/>
            <a:ext cx="3520440" cy="2366676"/>
          </a:xfrm>
          <a:prstGeom prst="rect">
            <a:avLst/>
          </a:prstGeom>
        </p:spPr>
      </p:pic>
      <p:pic>
        <p:nvPicPr>
          <p:cNvPr id="10" name="Picture 9" descr="A graph with lines and dots&#10;&#10;AI-generated content may be incorrect.">
            <a:extLst>
              <a:ext uri="{FF2B5EF4-FFF2-40B4-BE49-F238E27FC236}">
                <a16:creationId xmlns:a16="http://schemas.microsoft.com/office/drawing/2014/main" id="{831D1A1C-4F53-D671-52D4-683E0A5E2CE6}"/>
              </a:ext>
            </a:extLst>
          </p:cNvPr>
          <p:cNvPicPr>
            <a:picLocks noChangeAspect="1"/>
          </p:cNvPicPr>
          <p:nvPr/>
        </p:nvPicPr>
        <p:blipFill>
          <a:blip r:embed="rId4"/>
          <a:srcRect r="-1" b="7272"/>
          <a:stretch>
            <a:fillRect/>
          </a:stretch>
        </p:blipFill>
        <p:spPr>
          <a:xfrm>
            <a:off x="4334256" y="3979334"/>
            <a:ext cx="3520440" cy="2366676"/>
          </a:xfrm>
          <a:prstGeom prst="rect">
            <a:avLst/>
          </a:prstGeom>
        </p:spPr>
      </p:pic>
      <p:pic>
        <p:nvPicPr>
          <p:cNvPr id="16" name="Picture 15" descr="A graph of a graph&#10;&#10;AI-generated content may be incorrect.">
            <a:extLst>
              <a:ext uri="{FF2B5EF4-FFF2-40B4-BE49-F238E27FC236}">
                <a16:creationId xmlns:a16="http://schemas.microsoft.com/office/drawing/2014/main" id="{E4CC1146-2686-BE53-24BB-2D5723ADF3F6}"/>
              </a:ext>
            </a:extLst>
          </p:cNvPr>
          <p:cNvPicPr>
            <a:picLocks noChangeAspect="1"/>
          </p:cNvPicPr>
          <p:nvPr/>
        </p:nvPicPr>
        <p:blipFill>
          <a:blip r:embed="rId5"/>
          <a:srcRect t="15364" r="7" b="2425"/>
          <a:stretch>
            <a:fillRect/>
          </a:stretch>
        </p:blipFill>
        <p:spPr>
          <a:xfrm>
            <a:off x="8150643" y="3979333"/>
            <a:ext cx="3520440" cy="2366677"/>
          </a:xfrm>
          <a:prstGeom prst="rect">
            <a:avLst/>
          </a:prstGeom>
        </p:spPr>
      </p:pic>
    </p:spTree>
    <p:extLst>
      <p:ext uri="{BB962C8B-B14F-4D97-AF65-F5344CB8AC3E}">
        <p14:creationId xmlns:p14="http://schemas.microsoft.com/office/powerpoint/2010/main" val="23477332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F5DE3A-BD4B-FAA2-2007-91A6A6DAA109}"/>
            </a:ext>
          </a:extLst>
        </p:cNvPr>
        <p:cNvGrpSpPr/>
        <p:nvPr/>
      </p:nvGrpSpPr>
      <p:grpSpPr>
        <a:xfrm>
          <a:off x="0" y="0"/>
          <a:ext cx="0" cy="0"/>
          <a:chOff x="0" y="0"/>
          <a:chExt cx="0" cy="0"/>
        </a:xfrm>
      </p:grpSpPr>
      <p:sp>
        <p:nvSpPr>
          <p:cNvPr id="19" name="Freeform: Shape 1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1" name="Rectangle 20">
            <a:extLst>
              <a:ext uri="{FF2B5EF4-FFF2-40B4-BE49-F238E27FC236}">
                <a16:creationId xmlns:a16="http://schemas.microsoft.com/office/drawing/2014/main" id="{6D16C4DE-5FF1-8D34-BBA1-FC43F3155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FA60363C-F54B-71E6-544D-DBE59013BD16}"/>
              </a:ext>
            </a:extLst>
          </p:cNvPr>
          <p:cNvSpPr>
            <a:spLocks noGrp="1"/>
          </p:cNvSpPr>
          <p:nvPr>
            <p:ph type="title"/>
          </p:nvPr>
        </p:nvSpPr>
        <p:spPr>
          <a:xfrm>
            <a:off x="521208" y="978408"/>
            <a:ext cx="4800600" cy="1691640"/>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MLP Regression: Predictive Models</a:t>
            </a:r>
          </a:p>
        </p:txBody>
      </p:sp>
      <p:sp>
        <p:nvSpPr>
          <p:cNvPr id="23" name="Freeform: Shape 22">
            <a:extLst>
              <a:ext uri="{FF2B5EF4-FFF2-40B4-BE49-F238E27FC236}">
                <a16:creationId xmlns:a16="http://schemas.microsoft.com/office/drawing/2014/main" id="{B6914053-73D7-E377-E88C-94E35AAD48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ontent Placeholder 3">
            <a:extLst>
              <a:ext uri="{FF2B5EF4-FFF2-40B4-BE49-F238E27FC236}">
                <a16:creationId xmlns:a16="http://schemas.microsoft.com/office/drawing/2014/main" id="{510AED5D-FAD1-85A3-D44F-C813EC5569E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1060704"/>
            <a:ext cx="5824728" cy="1627632"/>
          </a:xfrm>
        </p:spPr>
        <p:txBody>
          <a:bodyPr>
            <a:normAutofit/>
          </a:bodyPr>
          <a:lstStyle/>
          <a:p>
            <a:pPr marL="0" indent="0">
              <a:spcBef>
                <a:spcPts val="2500"/>
              </a:spcBef>
              <a:buNone/>
            </a:pPr>
            <a:r>
              <a:rPr lang="en-US" sz="1400" b="1" dirty="0"/>
              <a:t>The MLP regression model was used on my side for continuous predictions: MLP Regression The first graph shows the metrics for this regression based models</a:t>
            </a:r>
            <a:r>
              <a:rPr lang="en-US" sz="1400" b="1" dirty="0">
                <a:highlight>
                  <a:srgbClr val="FFFF00"/>
                </a:highlight>
              </a:rPr>
              <a:t>. ( MLP VS Random Forest).</a:t>
            </a:r>
          </a:p>
        </p:txBody>
      </p:sp>
      <p:pic>
        <p:nvPicPr>
          <p:cNvPr id="8" name="Content Placeholder 7" descr="A graph with orange bars&#10;&#10;AI-generated content may be incorrect.">
            <a:extLst>
              <a:ext uri="{FF2B5EF4-FFF2-40B4-BE49-F238E27FC236}">
                <a16:creationId xmlns:a16="http://schemas.microsoft.com/office/drawing/2014/main" id="{E6973BBA-81D2-48EB-081A-FA4268583303}"/>
              </a:ext>
            </a:extLst>
          </p:cNvPr>
          <p:cNvPicPr>
            <a:picLocks noGrp="1" noChangeAspect="1"/>
          </p:cNvPicPr>
          <p:nvPr>
            <p:ph sz="half" idx="1"/>
          </p:nvPr>
        </p:nvPicPr>
        <p:blipFill>
          <a:blip r:embed="rId3"/>
          <a:srcRect t="2482" r="1" b="1"/>
          <a:stretch>
            <a:fillRect/>
          </a:stretch>
        </p:blipFill>
        <p:spPr>
          <a:xfrm>
            <a:off x="517871" y="2921001"/>
            <a:ext cx="11149534" cy="3424936"/>
          </a:xfrm>
          <a:prstGeom prst="rect">
            <a:avLst/>
          </a:prstGeom>
        </p:spPr>
      </p:pic>
    </p:spTree>
    <p:extLst>
      <p:ext uri="{BB962C8B-B14F-4D97-AF65-F5344CB8AC3E}">
        <p14:creationId xmlns:p14="http://schemas.microsoft.com/office/powerpoint/2010/main" val="29005640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C09E3D-CDF2-3B3B-D9F0-46424E7D1124}"/>
            </a:ext>
          </a:extLst>
        </p:cNvPr>
        <p:cNvGrpSpPr/>
        <p:nvPr/>
      </p:nvGrpSpPr>
      <p:grpSpPr>
        <a:xfrm>
          <a:off x="0" y="0"/>
          <a:ext cx="0" cy="0"/>
          <a:chOff x="0" y="0"/>
          <a:chExt cx="0" cy="0"/>
        </a:xfrm>
      </p:grpSpPr>
      <p:sp>
        <p:nvSpPr>
          <p:cNvPr id="37" name="Freeform: Shape 3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9" name="Rectangle 38">
            <a:extLst>
              <a:ext uri="{FF2B5EF4-FFF2-40B4-BE49-F238E27FC236}">
                <a16:creationId xmlns:a16="http://schemas.microsoft.com/office/drawing/2014/main" id="{E8873F53-55B7-4E34-B697-201CF2F10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4CEE8E09-930F-8825-93CA-B89F447EEA0A}"/>
              </a:ext>
            </a:extLst>
          </p:cNvPr>
          <p:cNvSpPr>
            <a:spLocks noGrp="1"/>
          </p:cNvSpPr>
          <p:nvPr>
            <p:ph type="title"/>
          </p:nvPr>
        </p:nvSpPr>
        <p:spPr>
          <a:xfrm>
            <a:off x="8476488" y="978408"/>
            <a:ext cx="3200400" cy="2459736"/>
          </a:xfrm>
        </p:spPr>
        <p:txBody>
          <a:bodyPr vert="horz" lIns="91440" tIns="45720" rIns="91440" bIns="45720" rtlCol="0" anchor="b">
            <a:normAutofit/>
          </a:bodyPr>
          <a:lstStyle/>
          <a:p>
            <a:pPr>
              <a:lnSpc>
                <a:spcPct val="90000"/>
              </a:lnSpc>
            </a:pPr>
            <a:r>
              <a:rPr lang="en-US" sz="3400" b="1" kern="1200" dirty="0" err="1">
                <a:solidFill>
                  <a:schemeClr val="tx1"/>
                </a:solidFill>
                <a:highlight>
                  <a:srgbClr val="FFFF00"/>
                </a:highlight>
                <a:latin typeface="+mj-lt"/>
                <a:ea typeface="+mj-ea"/>
                <a:cs typeface="+mj-cs"/>
              </a:rPr>
              <a:t>LightGBM</a:t>
            </a:r>
            <a:br>
              <a:rPr lang="en-US" sz="3400" b="1" kern="1200" dirty="0">
                <a:solidFill>
                  <a:schemeClr val="tx1"/>
                </a:solidFill>
                <a:latin typeface="+mj-lt"/>
                <a:ea typeface="+mj-ea"/>
                <a:cs typeface="+mj-cs"/>
              </a:rPr>
            </a:br>
            <a:r>
              <a:rPr lang="en-US" sz="3400" b="1" kern="1200" dirty="0" err="1">
                <a:solidFill>
                  <a:schemeClr val="tx1"/>
                </a:solidFill>
                <a:latin typeface="+mj-lt"/>
                <a:ea typeface="+mj-ea"/>
                <a:cs typeface="+mj-cs"/>
              </a:rPr>
              <a:t>XGBoost</a:t>
            </a:r>
            <a:br>
              <a:rPr lang="en-US" sz="3400" b="1" kern="1200" dirty="0">
                <a:solidFill>
                  <a:schemeClr val="tx1"/>
                </a:solidFill>
                <a:latin typeface="+mj-lt"/>
                <a:ea typeface="+mj-ea"/>
                <a:cs typeface="+mj-cs"/>
              </a:rPr>
            </a:br>
            <a:r>
              <a:rPr lang="en-US" sz="3400" b="1" kern="1200" dirty="0" err="1">
                <a:solidFill>
                  <a:schemeClr val="tx1"/>
                </a:solidFill>
                <a:latin typeface="+mj-lt"/>
                <a:ea typeface="+mj-ea"/>
                <a:cs typeface="+mj-cs"/>
              </a:rPr>
              <a:t>GradientBoost</a:t>
            </a:r>
            <a:br>
              <a:rPr lang="en-US" sz="3400" b="1" kern="1200" dirty="0">
                <a:solidFill>
                  <a:schemeClr val="tx1"/>
                </a:solidFill>
                <a:latin typeface="+mj-lt"/>
                <a:ea typeface="+mj-ea"/>
                <a:cs typeface="+mj-cs"/>
              </a:rPr>
            </a:br>
            <a:r>
              <a:rPr lang="en-US" sz="3400" b="1" kern="1200" dirty="0" err="1">
                <a:solidFill>
                  <a:schemeClr val="tx1"/>
                </a:solidFill>
                <a:latin typeface="+mj-lt"/>
                <a:ea typeface="+mj-ea"/>
                <a:cs typeface="+mj-cs"/>
              </a:rPr>
              <a:t>ElasticNet</a:t>
            </a:r>
            <a:br>
              <a:rPr lang="en-US" sz="3400" b="1" kern="1200" dirty="0">
                <a:solidFill>
                  <a:schemeClr val="tx1"/>
                </a:solidFill>
                <a:latin typeface="+mj-lt"/>
                <a:ea typeface="+mj-ea"/>
                <a:cs typeface="+mj-cs"/>
              </a:rPr>
            </a:br>
            <a:endParaRPr lang="en-US" sz="3400" b="1" kern="1200" dirty="0">
              <a:solidFill>
                <a:schemeClr val="tx1"/>
              </a:solidFill>
              <a:latin typeface="+mj-lt"/>
              <a:ea typeface="+mj-ea"/>
              <a:cs typeface="+mj-cs"/>
            </a:endParaRPr>
          </a:p>
        </p:txBody>
      </p:sp>
      <p:sp>
        <p:nvSpPr>
          <p:cNvPr id="41" name="Freeform: Shape 40">
            <a:extLst>
              <a:ext uri="{FF2B5EF4-FFF2-40B4-BE49-F238E27FC236}">
                <a16:creationId xmlns:a16="http://schemas.microsoft.com/office/drawing/2014/main" id="{FD90D0AA-A57E-2DE9-0CE8-B7B306878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2" name="Content Placeholder 11" descr="A group of blue green and purple bars&#10;&#10;AI-generated content may be incorrect.">
            <a:extLst>
              <a:ext uri="{FF2B5EF4-FFF2-40B4-BE49-F238E27FC236}">
                <a16:creationId xmlns:a16="http://schemas.microsoft.com/office/drawing/2014/main" id="{564188DD-BF9E-B751-3648-E9BE87D4DB62}"/>
              </a:ext>
            </a:extLst>
          </p:cNvPr>
          <p:cNvPicPr>
            <a:picLocks noGrp="1" noChangeAspect="1"/>
          </p:cNvPicPr>
          <p:nvPr>
            <p:ph sz="half" idx="1"/>
          </p:nvPr>
        </p:nvPicPr>
        <p:blipFill>
          <a:blip r:embed="rId3"/>
          <a:srcRect r="-2" b="10540"/>
          <a:stretch>
            <a:fillRect/>
          </a:stretch>
        </p:blipFill>
        <p:spPr>
          <a:xfrm>
            <a:off x="517864" y="970929"/>
            <a:ext cx="7534183" cy="5375076"/>
          </a:xfrm>
          <a:prstGeom prst="rect">
            <a:avLst/>
          </a:prstGeom>
        </p:spPr>
      </p:pic>
      <p:sp>
        <p:nvSpPr>
          <p:cNvPr id="4" name="Content Placeholder 3">
            <a:extLst>
              <a:ext uri="{FF2B5EF4-FFF2-40B4-BE49-F238E27FC236}">
                <a16:creationId xmlns:a16="http://schemas.microsoft.com/office/drawing/2014/main" id="{A81A3E55-2907-5013-54D8-80AFFF0A8E2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476488" y="3538728"/>
            <a:ext cx="3200400" cy="2816352"/>
          </a:xfrm>
        </p:spPr>
        <p:txBody>
          <a:bodyPr>
            <a:normAutofit/>
          </a:bodyPr>
          <a:lstStyle/>
          <a:p>
            <a:pPr marL="0" indent="0">
              <a:spcBef>
                <a:spcPts val="2500"/>
              </a:spcBef>
              <a:buNone/>
            </a:pPr>
            <a:r>
              <a:rPr lang="en-US" sz="1400" b="1" dirty="0"/>
              <a:t>Best Model among these is </a:t>
            </a:r>
            <a:r>
              <a:rPr lang="en-US" sz="1400" b="1" dirty="0" err="1"/>
              <a:t>LightGBM</a:t>
            </a:r>
            <a:r>
              <a:rPr lang="en-US" sz="1400" b="1" dirty="0"/>
              <a:t> with</a:t>
            </a:r>
            <a:br>
              <a:rPr lang="en-US" sz="1400" b="1" dirty="0"/>
            </a:br>
            <a:r>
              <a:rPr lang="en-US" sz="1400" b="1" dirty="0"/>
              <a:t>MAE: $ 456.3845</a:t>
            </a:r>
            <a:br>
              <a:rPr lang="en-US" sz="1400" b="1" dirty="0"/>
            </a:br>
            <a:r>
              <a:rPr lang="en-US" sz="1400" b="1" dirty="0"/>
              <a:t>RMSE: $ 4,330.6633</a:t>
            </a:r>
            <a:br>
              <a:rPr lang="en-US" sz="1400" b="1" dirty="0"/>
            </a:br>
            <a:r>
              <a:rPr lang="en-US" sz="1400" b="1" dirty="0"/>
              <a:t>R2: -0.0211</a:t>
            </a:r>
            <a:br>
              <a:rPr lang="en-US" sz="1400" b="1" dirty="0"/>
            </a:br>
            <a:r>
              <a:rPr lang="en-US" sz="1400" b="1" dirty="0"/>
              <a:t>Accuracy: 40.20%</a:t>
            </a:r>
          </a:p>
        </p:txBody>
      </p:sp>
    </p:spTree>
    <p:extLst>
      <p:ext uri="{BB962C8B-B14F-4D97-AF65-F5344CB8AC3E}">
        <p14:creationId xmlns:p14="http://schemas.microsoft.com/office/powerpoint/2010/main" val="3443981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9CEA47-9D92-9CFA-F80E-364B57958313}"/>
            </a:ext>
          </a:extLst>
        </p:cNvPr>
        <p:cNvGrpSpPr/>
        <p:nvPr/>
      </p:nvGrpSpPr>
      <p:grpSpPr>
        <a:xfrm>
          <a:off x="0" y="0"/>
          <a:ext cx="0" cy="0"/>
          <a:chOff x="0" y="0"/>
          <a:chExt cx="0" cy="0"/>
        </a:xfrm>
      </p:grpSpPr>
      <p:sp>
        <p:nvSpPr>
          <p:cNvPr id="37" name="Freeform: Shape 3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9" name="Rectangle 38">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CF772A05-32B2-E8AF-2805-AA9B11B5BB30}"/>
              </a:ext>
            </a:extLst>
          </p:cNvPr>
          <p:cNvSpPr>
            <a:spLocks noGrp="1"/>
          </p:cNvSpPr>
          <p:nvPr>
            <p:ph type="title"/>
          </p:nvPr>
        </p:nvSpPr>
        <p:spPr>
          <a:xfrm>
            <a:off x="521208" y="978408"/>
            <a:ext cx="4507992" cy="351628"/>
          </a:xfrm>
        </p:spPr>
        <p:txBody>
          <a:bodyPr vert="horz" lIns="91440" tIns="45720" rIns="91440" bIns="45720" rtlCol="0" anchor="t">
            <a:normAutofit fontScale="90000"/>
          </a:bodyPr>
          <a:lstStyle/>
          <a:p>
            <a:pPr>
              <a:lnSpc>
                <a:spcPct val="90000"/>
              </a:lnSpc>
            </a:pPr>
            <a:r>
              <a:rPr lang="en-US" sz="3100" b="1" kern="1200" dirty="0">
                <a:solidFill>
                  <a:schemeClr val="tx1"/>
                </a:solidFill>
                <a:latin typeface="+mj-lt"/>
                <a:ea typeface="+mj-ea"/>
                <a:cs typeface="+mj-cs"/>
              </a:rPr>
              <a:t>Linear Regression Model- Best Overall Model   </a:t>
            </a:r>
          </a:p>
        </p:txBody>
      </p:sp>
      <p:sp>
        <p:nvSpPr>
          <p:cNvPr id="41" name="Rectangle 40">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4" name="Rectangle 4">
            <a:extLst>
              <a:ext uri="{FF2B5EF4-FFF2-40B4-BE49-F238E27FC236}">
                <a16:creationId xmlns:a16="http://schemas.microsoft.com/office/drawing/2014/main" id="{78FECF70-430C-B58A-ED9E-01EC321F3328}"/>
              </a:ext>
            </a:extLst>
          </p:cNvPr>
          <p:cNvSpPr>
            <a:spLocks noGrp="1" noChangeArrowheads="1"/>
          </p:cNvSpPr>
          <p:nvPr>
            <p:ph sz="half" idx="2"/>
          </p:nvPr>
        </p:nvSpPr>
        <p:spPr bwMode="auto">
          <a:xfrm>
            <a:off x="438912" y="2952680"/>
            <a:ext cx="4672584" cy="376732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eaLnBrk="1" hangingPunct="1">
              <a:spcAft>
                <a:spcPts val="600"/>
              </a:spcAft>
            </a:pPr>
            <a:r>
              <a:rPr lang="en-US" b="1">
                <a:latin typeface="+mn-lt"/>
              </a:rPr>
              <a:t>Mean Absolute Error (MAE)</a:t>
            </a:r>
            <a:r>
              <a:rPr lang="en-US">
                <a:latin typeface="+mn-lt"/>
              </a:rPr>
              <a:t>, </a:t>
            </a:r>
            <a:r>
              <a:rPr lang="en-US" b="1">
                <a:latin typeface="+mn-lt"/>
              </a:rPr>
              <a:t>Root Mean Squared Error (RMSE)</a:t>
            </a:r>
            <a:r>
              <a:rPr lang="en-US">
                <a:latin typeface="+mn-lt"/>
              </a:rPr>
              <a:t>, and </a:t>
            </a:r>
            <a:r>
              <a:rPr lang="en-US" b="1">
                <a:latin typeface="+mn-lt"/>
              </a:rPr>
              <a:t>R-squared (R²)</a:t>
            </a:r>
            <a:r>
              <a:rPr lang="en-US">
                <a:latin typeface="+mn-lt"/>
              </a:rPr>
              <a:t>. The trained model and scaler are saved for future use.</a:t>
            </a:r>
            <a:br>
              <a:rPr lang="en-US">
                <a:latin typeface="+mn-lt"/>
              </a:rPr>
            </a:br>
            <a:r>
              <a:rPr lang="en-US">
                <a:latin typeface="+mn-lt"/>
              </a:rPr>
              <a:t>- Feature Engineering:</a:t>
            </a:r>
            <a:endParaRPr kumimoji="0" lang="en-US" altLang="en-US" b="0" i="0" u="none" strike="noStrike" cap="none" normalizeH="0" baseline="0">
              <a:ln>
                <a:noFill/>
              </a:ln>
              <a:effectLst/>
              <a:latin typeface="+mn-lt"/>
            </a:endParaRPr>
          </a:p>
        </p:txBody>
      </p:sp>
      <p:pic>
        <p:nvPicPr>
          <p:cNvPr id="16" name="Content Placeholder 15" descr="A screen shot of a graph&#10;&#10;AI-generated content may be incorrect.">
            <a:extLst>
              <a:ext uri="{FF2B5EF4-FFF2-40B4-BE49-F238E27FC236}">
                <a16:creationId xmlns:a16="http://schemas.microsoft.com/office/drawing/2014/main" id="{0ABB7F95-1B99-456E-EC2B-3815DACEFFD4}"/>
              </a:ext>
            </a:extLst>
          </p:cNvPr>
          <p:cNvPicPr>
            <a:picLocks noGrp="1" noChangeAspect="1"/>
          </p:cNvPicPr>
          <p:nvPr>
            <p:ph sz="half" idx="1"/>
          </p:nvPr>
        </p:nvPicPr>
        <p:blipFill>
          <a:blip r:embed="rId3"/>
          <a:srcRect r="16265" b="2"/>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65746884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AC19B9-4655-C1D0-742B-0E183DBCA301}"/>
            </a:ext>
          </a:extLst>
        </p:cNvPr>
        <p:cNvGrpSpPr/>
        <p:nvPr/>
      </p:nvGrpSpPr>
      <p:grpSpPr>
        <a:xfrm>
          <a:off x="0" y="0"/>
          <a:ext cx="0" cy="0"/>
          <a:chOff x="0" y="0"/>
          <a:chExt cx="0" cy="0"/>
        </a:xfrm>
      </p:grpSpPr>
      <p:sp>
        <p:nvSpPr>
          <p:cNvPr id="70" name="Freeform: Shape 6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71" name="Rectangle 70">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7B876BD-419A-9CDB-9EEB-D9F43084D96D}"/>
              </a:ext>
            </a:extLst>
          </p:cNvPr>
          <p:cNvSpPr>
            <a:spLocks noGrp="1"/>
          </p:cNvSpPr>
          <p:nvPr>
            <p:ph type="title"/>
          </p:nvPr>
        </p:nvSpPr>
        <p:spPr>
          <a:xfrm>
            <a:off x="521208" y="978408"/>
            <a:ext cx="11155680" cy="1115568"/>
          </a:xfrm>
        </p:spPr>
        <p:txBody>
          <a:bodyPr vert="horz" lIns="91440" tIns="45720" rIns="91440" bIns="45720" rtlCol="0" anchor="t">
            <a:normAutofit/>
          </a:bodyPr>
          <a:lstStyle/>
          <a:p>
            <a:r>
              <a:rPr lang="en-US" b="1" kern="1200" dirty="0">
                <a:solidFill>
                  <a:schemeClr val="tx1"/>
                </a:solidFill>
                <a:latin typeface="+mj-lt"/>
                <a:ea typeface="+mj-ea"/>
                <a:cs typeface="+mj-cs"/>
              </a:rPr>
              <a:t>Random Forest Model   </a:t>
            </a:r>
          </a:p>
        </p:txBody>
      </p:sp>
      <p:sp>
        <p:nvSpPr>
          <p:cNvPr id="72" name="Freeform: Shape 71">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Content Placeholder 5" descr="A group of graphs showing different types of data&#10;&#10;AI-generated content may be incorrect.">
            <a:extLst>
              <a:ext uri="{FF2B5EF4-FFF2-40B4-BE49-F238E27FC236}">
                <a16:creationId xmlns:a16="http://schemas.microsoft.com/office/drawing/2014/main" id="{816A3051-2E99-58CF-EA36-39EDC3BA53E9}"/>
              </a:ext>
            </a:extLst>
          </p:cNvPr>
          <p:cNvPicPr>
            <a:picLocks noGrp="1" noChangeAspect="1"/>
          </p:cNvPicPr>
          <p:nvPr>
            <p:ph sz="half" idx="1"/>
          </p:nvPr>
        </p:nvPicPr>
        <p:blipFill>
          <a:blip r:embed="rId3"/>
          <a:srcRect l="673" r="815" b="1"/>
          <a:stretch>
            <a:fillRect/>
          </a:stretch>
        </p:blipFill>
        <p:spPr>
          <a:xfrm>
            <a:off x="517866" y="2299390"/>
            <a:ext cx="5578133" cy="4048568"/>
          </a:xfrm>
          <a:prstGeom prst="rect">
            <a:avLst/>
          </a:prstGeom>
        </p:spPr>
      </p:pic>
      <p:sp>
        <p:nvSpPr>
          <p:cNvPr id="14" name="Rectangle 4">
            <a:extLst>
              <a:ext uri="{FF2B5EF4-FFF2-40B4-BE49-F238E27FC236}">
                <a16:creationId xmlns:a16="http://schemas.microsoft.com/office/drawing/2014/main" id="{52FF1E2E-1354-6761-2CAF-7E4A44B62F64}"/>
              </a:ext>
            </a:extLst>
          </p:cNvPr>
          <p:cNvSpPr>
            <a:spLocks noGrp="1" noChangeArrowheads="1"/>
          </p:cNvSpPr>
          <p:nvPr>
            <p:ph sz="half" idx="2"/>
          </p:nvPr>
        </p:nvSpPr>
        <p:spPr bwMode="auto">
          <a:xfrm>
            <a:off x="6510528" y="2304288"/>
            <a:ext cx="5157216" cy="405079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0000"/>
              </a:lnSpc>
              <a:spcAft>
                <a:spcPts val="600"/>
              </a:spcAft>
            </a:pPr>
            <a:r>
              <a:rPr lang="en-US" sz="1300" dirty="0">
                <a:latin typeface="+mn-lt"/>
              </a:rPr>
              <a:t>Here we  trained a Random Forest Regressor model to predict the next-day closing prices of cryptocurrencies. Here's a summary of the results:</a:t>
            </a:r>
            <a:br>
              <a:rPr lang="en-US" sz="1300" dirty="0">
                <a:latin typeface="+mn-lt"/>
              </a:rPr>
            </a:br>
            <a:r>
              <a:rPr lang="en-US" sz="1300" b="1" dirty="0">
                <a:latin typeface="+mn-lt"/>
              </a:rPr>
              <a:t>Overall model performance:</a:t>
            </a:r>
            <a:br>
              <a:rPr lang="en-US" sz="1300" dirty="0">
                <a:latin typeface="+mn-lt"/>
              </a:rPr>
            </a:br>
            <a:endParaRPr lang="en-US" sz="1300" dirty="0">
              <a:latin typeface="+mn-lt"/>
            </a:endParaRPr>
          </a:p>
          <a:p>
            <a:pPr eaLnBrk="1" hangingPunct="1">
              <a:lnSpc>
                <a:spcPct val="100000"/>
              </a:lnSpc>
              <a:spcAft>
                <a:spcPts val="600"/>
              </a:spcAft>
            </a:pPr>
            <a:r>
              <a:rPr lang="en-US" sz="1300" dirty="0">
                <a:latin typeface="+mn-lt"/>
              </a:rPr>
              <a:t>Model Summary: {'Model': 'Random Forest', 'MAE': 1.553872568248448, 'RMSE': 34.95162204574502, 'R²': 0.7972844132714034}</a:t>
            </a:r>
          </a:p>
          <a:p>
            <a:pPr eaLnBrk="1" hangingPunct="1">
              <a:lnSpc>
                <a:spcPct val="100000"/>
              </a:lnSpc>
              <a:spcAft>
                <a:spcPts val="600"/>
              </a:spcAft>
            </a:pPr>
            <a:r>
              <a:rPr lang="en-US" sz="1300" b="1" dirty="0">
                <a:latin typeface="+mn-lt"/>
              </a:rPr>
              <a:t>Top 5 coins by average volume: ['USDT', 'TRX', 'XRP', 'ZEC', 'TRUE'] (</a:t>
            </a:r>
            <a:r>
              <a:rPr lang="en-US" sz="1300" b="1" i="1" dirty="0">
                <a:latin typeface="+mn-lt"/>
              </a:rPr>
              <a:t>present in the test set)</a:t>
            </a:r>
            <a:br>
              <a:rPr lang="en-US" sz="1300" dirty="0">
                <a:latin typeface="+mn-lt"/>
              </a:rPr>
            </a:br>
            <a:r>
              <a:rPr lang="en-US" sz="1300" b="1" dirty="0">
                <a:latin typeface="+mn-lt"/>
              </a:rPr>
              <a:t>Mean Absolute Error (MAE) per Top Coin:</a:t>
            </a:r>
            <a:br>
              <a:rPr lang="en-US" sz="1300" dirty="0">
                <a:latin typeface="+mn-lt"/>
              </a:rPr>
            </a:br>
            <a:endParaRPr lang="en-US" sz="1300" dirty="0">
              <a:latin typeface="+mn-lt"/>
            </a:endParaRPr>
          </a:p>
          <a:p>
            <a:pPr eaLnBrk="1" hangingPunct="1">
              <a:lnSpc>
                <a:spcPct val="100000"/>
              </a:lnSpc>
              <a:spcAft>
                <a:spcPts val="600"/>
              </a:spcAft>
            </a:pPr>
            <a:r>
              <a:rPr lang="en-US" sz="1300" dirty="0">
                <a:latin typeface="+mn-lt"/>
              </a:rPr>
              <a:t>USDT: MAE = 0.0113</a:t>
            </a:r>
          </a:p>
          <a:p>
            <a:pPr eaLnBrk="1" hangingPunct="1">
              <a:lnSpc>
                <a:spcPct val="100000"/>
              </a:lnSpc>
              <a:spcAft>
                <a:spcPts val="600"/>
              </a:spcAft>
            </a:pPr>
            <a:r>
              <a:rPr lang="en-US" sz="1300" dirty="0">
                <a:latin typeface="+mn-lt"/>
              </a:rPr>
              <a:t>TRX: MAE = 0.0072</a:t>
            </a:r>
          </a:p>
          <a:p>
            <a:pPr eaLnBrk="1" hangingPunct="1">
              <a:lnSpc>
                <a:spcPct val="100000"/>
              </a:lnSpc>
              <a:spcAft>
                <a:spcPts val="600"/>
              </a:spcAft>
            </a:pPr>
            <a:r>
              <a:rPr lang="en-US" sz="1300" dirty="0">
                <a:latin typeface="+mn-lt"/>
              </a:rPr>
              <a:t>XRP: MAE = 0.0136</a:t>
            </a:r>
          </a:p>
          <a:p>
            <a:pPr eaLnBrk="1" hangingPunct="1">
              <a:lnSpc>
                <a:spcPct val="100000"/>
              </a:lnSpc>
              <a:spcAft>
                <a:spcPts val="600"/>
              </a:spcAft>
            </a:pPr>
            <a:r>
              <a:rPr lang="en-US" sz="1300" dirty="0">
                <a:latin typeface="+mn-lt"/>
              </a:rPr>
              <a:t>ZEC: MAE = 13.6982</a:t>
            </a:r>
          </a:p>
          <a:p>
            <a:pPr eaLnBrk="1" hangingPunct="1">
              <a:lnSpc>
                <a:spcPct val="100000"/>
              </a:lnSpc>
              <a:spcAft>
                <a:spcPts val="600"/>
              </a:spcAft>
            </a:pPr>
            <a:r>
              <a:rPr lang="en-US" sz="1300" dirty="0">
                <a:latin typeface="+mn-lt"/>
              </a:rPr>
              <a:t>TRUE: MAE = 0.0725</a:t>
            </a:r>
          </a:p>
        </p:txBody>
      </p:sp>
    </p:spTree>
    <p:extLst>
      <p:ext uri="{BB962C8B-B14F-4D97-AF65-F5344CB8AC3E}">
        <p14:creationId xmlns:p14="http://schemas.microsoft.com/office/powerpoint/2010/main" val="106695746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1" name="Rectangle 20">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794888-CD10-3519-C674-27B4061F3C4A}"/>
              </a:ext>
            </a:extLst>
          </p:cNvPr>
          <p:cNvSpPr>
            <a:spLocks noGrp="1"/>
          </p:cNvSpPr>
          <p:nvPr>
            <p:ph type="title"/>
          </p:nvPr>
        </p:nvSpPr>
        <p:spPr>
          <a:xfrm>
            <a:off x="5138928" y="978408"/>
            <a:ext cx="6537960" cy="1463040"/>
          </a:xfrm>
        </p:spPr>
        <p:txBody>
          <a:bodyPr vert="horz" lIns="91440" tIns="45720" rIns="91440" bIns="45720" rtlCol="0" anchor="t">
            <a:normAutofit/>
          </a:bodyPr>
          <a:lstStyle/>
          <a:p>
            <a:pPr>
              <a:lnSpc>
                <a:spcPct val="90000"/>
              </a:lnSpc>
            </a:pPr>
            <a:r>
              <a:rPr lang="en-US" sz="3700" b="1" kern="1200">
                <a:solidFill>
                  <a:schemeClr val="tx1"/>
                </a:solidFill>
                <a:latin typeface="+mj-lt"/>
                <a:ea typeface="+mj-ea"/>
                <a:cs typeface="+mj-cs"/>
              </a:rPr>
              <a:t>Challenges and Limitations of Predictive Models</a:t>
            </a:r>
          </a:p>
        </p:txBody>
      </p:sp>
      <p:sp>
        <p:nvSpPr>
          <p:cNvPr id="23" name="Freeform: Shape 22">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bitcoin">
            <a:extLst>
              <a:ext uri="{FF2B5EF4-FFF2-40B4-BE49-F238E27FC236}">
                <a16:creationId xmlns:a16="http://schemas.microsoft.com/office/drawing/2014/main" id="{186210D6-E14C-4253-ACD9-07D49FA4AD57}"/>
              </a:ext>
            </a:extLst>
          </p:cNvPr>
          <p:cNvPicPr>
            <a:picLocks noGrp="1" noChangeAspect="1"/>
          </p:cNvPicPr>
          <p:nvPr>
            <p:ph sz="half" idx="1"/>
          </p:nvPr>
        </p:nvPicPr>
        <p:blipFill>
          <a:blip r:embed="rId3"/>
          <a:srcRect l="18955" r="39232"/>
          <a:stretch>
            <a:fillRect/>
          </a:stretch>
        </p:blipFill>
        <p:spPr>
          <a:xfrm>
            <a:off x="517870" y="970928"/>
            <a:ext cx="3996980" cy="5377029"/>
          </a:xfrm>
          <a:prstGeom prst="rect">
            <a:avLst/>
          </a:prstGeom>
        </p:spPr>
      </p:pic>
      <p:sp>
        <p:nvSpPr>
          <p:cNvPr id="4" name="Content Placeholder 3">
            <a:extLst>
              <a:ext uri="{FF2B5EF4-FFF2-40B4-BE49-F238E27FC236}">
                <a16:creationId xmlns:a16="http://schemas.microsoft.com/office/drawing/2014/main" id="{5641D1C4-CA42-8147-F78C-983E94E39C7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38928" y="2578608"/>
            <a:ext cx="6537960" cy="3767328"/>
          </a:xfrm>
        </p:spPr>
        <p:txBody>
          <a:bodyPr>
            <a:normAutofit/>
          </a:bodyPr>
          <a:lstStyle/>
          <a:p>
            <a:pPr marL="0" indent="0">
              <a:spcBef>
                <a:spcPts val="2500"/>
              </a:spcBef>
              <a:buNone/>
            </a:pPr>
            <a:r>
              <a:rPr lang="en-CA" sz="1400" b="1" dirty="0"/>
              <a:t>Data Quality Issues</a:t>
            </a:r>
          </a:p>
          <a:p>
            <a:pPr marL="285750" lvl="1" indent="-285750"/>
            <a:r>
              <a:rPr lang="en-CA" sz="1400" dirty="0"/>
              <a:t>The accuracy of machine learning models heavily depends on the quality of the data used. We only received Cryptocurrency datasets from 2013 -2018 from Kaggle. </a:t>
            </a:r>
          </a:p>
          <a:p>
            <a:pPr marL="285750" lvl="1" indent="-285750"/>
            <a:endParaRPr lang="en-CA" sz="1400" dirty="0"/>
          </a:p>
          <a:p>
            <a:pPr marL="285750" lvl="1" indent="-285750"/>
            <a:r>
              <a:rPr lang="en-CA" sz="1400" dirty="0"/>
              <a:t>Not having </a:t>
            </a:r>
            <a:r>
              <a:rPr lang="en-US" sz="1400" dirty="0"/>
              <a:t>Sentiment Analysis and Social Media Impact Datasets for example: (Political Views, Stock market, Economy). All these aspects needs to be taken to consideration with cryptocurrency. Which is while it is so volatile and unpredictable.</a:t>
            </a:r>
          </a:p>
          <a:p>
            <a:pPr marL="285750" lvl="1" indent="-285750"/>
            <a:endParaRPr lang="en-US" sz="1400" dirty="0"/>
          </a:p>
          <a:p>
            <a:pPr marL="285750" lvl="1" indent="-285750"/>
            <a:r>
              <a:rPr lang="en-US" sz="1400" dirty="0"/>
              <a:t>The limited time and computing power needed in order to create the Predictive Models for this use case.</a:t>
            </a:r>
          </a:p>
          <a:p>
            <a:pPr marL="0" lvl="1" indent="0">
              <a:buFontTx/>
              <a:buNone/>
            </a:pPr>
            <a:endParaRPr lang="en-US" sz="1400" dirty="0"/>
          </a:p>
          <a:p>
            <a:pPr marL="0" lvl="1" indent="0">
              <a:buNone/>
            </a:pPr>
            <a:endParaRPr lang="en-CA" sz="1400" dirty="0"/>
          </a:p>
        </p:txBody>
      </p:sp>
    </p:spTree>
    <p:extLst>
      <p:ext uri="{BB962C8B-B14F-4D97-AF65-F5344CB8AC3E}">
        <p14:creationId xmlns:p14="http://schemas.microsoft.com/office/powerpoint/2010/main" val="38098525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D141660-56D2-34FC-5134-33A790761388}"/>
              </a:ext>
            </a:extLst>
          </p:cNvPr>
          <p:cNvSpPr>
            <a:spLocks noGrp="1"/>
          </p:cNvSpPr>
          <p:nvPr>
            <p:ph type="ctrTitle"/>
          </p:nvPr>
        </p:nvSpPr>
        <p:spPr>
          <a:xfrm>
            <a:off x="521208" y="1211766"/>
            <a:ext cx="7237052" cy="4727988"/>
          </a:xfrm>
        </p:spPr>
        <p:txBody>
          <a:bodyPr anchor="b">
            <a:normAutofit/>
          </a:bodyPr>
          <a:lstStyle/>
          <a:p>
            <a:r>
              <a:rPr lang="en-US" sz="7400"/>
              <a:t>Risks and Ethical Considerations</a:t>
            </a:r>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78320246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A2EC32-A853-A842-DBCD-D17C19493873}"/>
              </a:ext>
            </a:extLst>
          </p:cNvPr>
          <p:cNvSpPr>
            <a:spLocks noGrp="1"/>
          </p:cNvSpPr>
          <p:nvPr>
            <p:ph type="title"/>
          </p:nvPr>
        </p:nvSpPr>
        <p:spPr>
          <a:xfrm>
            <a:off x="521208" y="978408"/>
            <a:ext cx="6300216" cy="1463040"/>
          </a:xfrm>
        </p:spPr>
        <p:txBody>
          <a:bodyPr vert="horz" lIns="91440" tIns="45720" rIns="91440" bIns="45720" rtlCol="0" anchor="t">
            <a:normAutofit/>
          </a:bodyPr>
          <a:lstStyle/>
          <a:p>
            <a:r>
              <a:rPr lang="en-US" sz="4100" b="1" kern="1200">
                <a:solidFill>
                  <a:schemeClr val="tx1"/>
                </a:solidFill>
                <a:latin typeface="+mj-lt"/>
                <a:ea typeface="+mj-ea"/>
                <a:cs typeface="+mj-cs"/>
              </a:rPr>
              <a:t>Market Manipulation and Regulatory Concerns</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D02752B5-8175-8512-3DE1-559026C62C2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208" y="2578608"/>
            <a:ext cx="6300216" cy="3767328"/>
          </a:xfrm>
        </p:spPr>
        <p:txBody>
          <a:bodyPr>
            <a:normAutofit/>
          </a:bodyPr>
          <a:lstStyle/>
          <a:p>
            <a:pPr marL="0" indent="0">
              <a:spcBef>
                <a:spcPts val="2500"/>
              </a:spcBef>
              <a:buNone/>
            </a:pPr>
            <a:r>
              <a:rPr lang="en-CA" sz="1400" b="1" dirty="0"/>
              <a:t>Risks of Market Manipulation</a:t>
            </a:r>
          </a:p>
          <a:p>
            <a:pPr marL="285750" lvl="1" indent="-285750"/>
            <a:r>
              <a:rPr lang="en-CA" sz="1400" dirty="0"/>
              <a:t>Market manipulation poses significant risks to traders in the cryptocurrency space, affecting market integrity and investor confidence. As the market is very volatile.</a:t>
            </a:r>
          </a:p>
          <a:p>
            <a:pPr marL="0" indent="0">
              <a:spcBef>
                <a:spcPts val="2500"/>
              </a:spcBef>
              <a:buNone/>
            </a:pPr>
            <a:r>
              <a:rPr lang="en-CA" sz="1400" b="1" dirty="0"/>
              <a:t>Protective Measures for Traders</a:t>
            </a:r>
          </a:p>
          <a:p>
            <a:pPr marL="285750" lvl="1" indent="-285750"/>
            <a:r>
              <a:rPr lang="en-CA" sz="1400" dirty="0"/>
              <a:t>Traders can implement various strategies to protect themselves from market manipulation, including due diligence and risk management.</a:t>
            </a:r>
          </a:p>
          <a:p>
            <a:pPr marL="0" indent="0">
              <a:spcBef>
                <a:spcPts val="2500"/>
              </a:spcBef>
              <a:buNone/>
            </a:pPr>
            <a:r>
              <a:rPr lang="en-CA" sz="1400" b="1" dirty="0"/>
              <a:t>Regulatory Landscape</a:t>
            </a:r>
          </a:p>
          <a:p>
            <a:pPr marL="285750" lvl="1" indent="-285750"/>
            <a:r>
              <a:rPr lang="en-CA" sz="1400" dirty="0"/>
              <a:t>Understanding the regulatory landscape surrounding market manipulation is essential for traders to navigate compliance and protect their investments.</a:t>
            </a:r>
            <a:endParaRPr lang="en-US" sz="1400" dirty="0"/>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0227D52D-07AE-4B68-B6EA-F60048ABB129}"/>
              </a:ext>
            </a:extLst>
          </p:cNvPr>
          <p:cNvPicPr>
            <a:picLocks noGrp="1" noChangeAspect="1"/>
          </p:cNvPicPr>
          <p:nvPr>
            <p:ph sz="half" idx="1"/>
          </p:nvPr>
        </p:nvPicPr>
        <p:blipFill>
          <a:blip r:embed="rId3"/>
          <a:srcRect l="32094" r="8045" b="2"/>
          <a:stretch>
            <a:fillRect/>
          </a:stretch>
        </p:blipFill>
        <p:spPr>
          <a:xfrm>
            <a:off x="7586236" y="508090"/>
            <a:ext cx="4081805" cy="5846990"/>
          </a:xfrm>
          <a:prstGeom prst="rect">
            <a:avLst/>
          </a:prstGeom>
        </p:spPr>
      </p:pic>
    </p:spTree>
    <p:extLst>
      <p:ext uri="{BB962C8B-B14F-4D97-AF65-F5344CB8AC3E}">
        <p14:creationId xmlns:p14="http://schemas.microsoft.com/office/powerpoint/2010/main" val="2568227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Freeform: Shape 9">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845" y="3079474"/>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911C494-22CD-E11B-23B2-63F1D6D96304}"/>
              </a:ext>
            </a:extLst>
          </p:cNvPr>
          <p:cNvSpPr>
            <a:spLocks noGrp="1"/>
          </p:cNvSpPr>
          <p:nvPr>
            <p:ph type="title"/>
          </p:nvPr>
        </p:nvSpPr>
        <p:spPr>
          <a:xfrm>
            <a:off x="521208" y="1325880"/>
            <a:ext cx="11155680" cy="1408176"/>
          </a:xfrm>
        </p:spPr>
        <p:txBody>
          <a:bodyPr anchor="b">
            <a:normAutofit fontScale="90000"/>
          </a:bodyPr>
          <a:lstStyle/>
          <a:p>
            <a:r>
              <a:rPr lang="en-US" sz="6800" dirty="0"/>
              <a:t>Thanks for Listening! Any Questions?</a:t>
            </a:r>
          </a:p>
        </p:txBody>
      </p:sp>
      <p:sp>
        <p:nvSpPr>
          <p:cNvPr id="4" name="Content Placeholder 3">
            <a:extLst>
              <a:ext uri="{FF2B5EF4-FFF2-40B4-BE49-F238E27FC236}">
                <a16:creationId xmlns:a16="http://schemas.microsoft.com/office/drawing/2014/main" id="{F536B19A-8C0D-6E77-3B06-0CFF4105D457}"/>
              </a:ext>
            </a:extLst>
          </p:cNvPr>
          <p:cNvSpPr>
            <a:spLocks noGrp="1"/>
          </p:cNvSpPr>
          <p:nvPr>
            <p:ph idx="1"/>
          </p:nvPr>
        </p:nvSpPr>
        <p:spPr>
          <a:xfrm>
            <a:off x="1029903" y="3436085"/>
            <a:ext cx="10638252" cy="2772210"/>
          </a:xfrm>
        </p:spPr>
        <p:txBody>
          <a:bodyPr/>
          <a:lstStyle/>
          <a:p>
            <a:endParaRPr lang="en-CA" dirty="0"/>
          </a:p>
        </p:txBody>
      </p:sp>
    </p:spTree>
    <p:extLst>
      <p:ext uri="{BB962C8B-B14F-4D97-AF65-F5344CB8AC3E}">
        <p14:creationId xmlns:p14="http://schemas.microsoft.com/office/powerpoint/2010/main" val="1154195662"/>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1480</TotalTime>
  <Words>1694</Words>
  <Application>Microsoft Office PowerPoint</Application>
  <PresentationFormat>Widescreen</PresentationFormat>
  <Paragraphs>100</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Bierstadt</vt:lpstr>
      <vt:lpstr>GestaltVTI</vt:lpstr>
      <vt:lpstr>Predicting the Price of Next Day Cryptocurrencies: By using AI Models</vt:lpstr>
      <vt:lpstr>Agenda of Topics</vt:lpstr>
      <vt:lpstr>Business Use Case : Crypto Currency Predicter for next day value</vt:lpstr>
      <vt:lpstr>Crypto Currency Predicter for next day value- Overview: </vt:lpstr>
      <vt:lpstr>Data Cleansing and Feature Engineering</vt:lpstr>
      <vt:lpstr>Techniques for Data Cleansing</vt:lpstr>
      <vt:lpstr>Feature Engineering for Time Series Data</vt:lpstr>
      <vt:lpstr>Machine Learning and Predictive Models that we used:</vt:lpstr>
      <vt:lpstr>Popular Models (Linear Regression, LSTM, Random Forest)</vt:lpstr>
      <vt:lpstr>Gated Recurrent Unit (GRU) Networks Model</vt:lpstr>
      <vt:lpstr>MLP Regression: Predictive Models</vt:lpstr>
      <vt:lpstr>LightGBM XGBoost GradientBoost ElasticNet </vt:lpstr>
      <vt:lpstr>Linear Regression Model- Best Overall Model   </vt:lpstr>
      <vt:lpstr>Random Forest Model   </vt:lpstr>
      <vt:lpstr>Challenges and Limitations of Predictive Models</vt:lpstr>
      <vt:lpstr>Risks and Ethical Considerations</vt:lpstr>
      <vt:lpstr>Market Manipulation and Regulatory Concerns</vt:lpstr>
      <vt:lpstr>Thanks for Listening!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Matias Velastegui Cobo</dc:creator>
  <cp:lastModifiedBy>Mohammed Hashim Siddiqui</cp:lastModifiedBy>
  <cp:revision>9</cp:revision>
  <dcterms:created xsi:type="dcterms:W3CDTF">2025-07-24T21:12:44Z</dcterms:created>
  <dcterms:modified xsi:type="dcterms:W3CDTF">2025-07-25T23:02:02Z</dcterms:modified>
</cp:coreProperties>
</file>